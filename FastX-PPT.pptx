
<file path=[Content_Types].xml><?xml version="1.0" encoding="utf-8"?>
<Types xmlns="http://schemas.openxmlformats.org/package/2006/content-types">
  <Default Extension="xml" ContentType="application/xml"/>
  <Default Extension="svg" ContentType="image/svg+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4.xml" ContentType="application/vnd.openxmlformats-officedocument.presentationml.notesSlide+xml"/>
  <Override PartName="/ppt/slides/slide5.xml" ContentType="application/vnd.openxmlformats-officedocument.presentationml.slide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viewProps.xml" ContentType="application/vnd.openxmlformats-officedocument.presentationml.viewProps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3.xml" ContentType="application/vnd.openxmlformats-officedocument.presentationml.notesSlide+xml"/>
  <Override PartName="/ppt/tableStyles.xml" ContentType="application/vnd.openxmlformats-officedocument.presentationml.tableStyles+xml"/>
  <Override PartName="/ppt/notesSlides/notesSlide4.xml" ContentType="application/vnd.openxmlformats-officedocument.presentationml.notesSlide+xml"/>
  <Override PartName="/ppt/presentation.xml" ContentType="application/vnd.openxmlformats-officedocument.presentationml.presentation.main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embedTrueTypeFonts="1" saveSubsetFonts="1">
  <p:sldMasterIdLst>
    <p:sldMasterId id="2147483648" r:id="rId1"/>
  </p:sldMasterIdLst>
  <p:notesMasterIdLst>
    <p:notesMasterId r:id="rId2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9144000" cy="5143500"/>
  <p:notesSz cx="5143500" cy="9144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2880"/>
        <p:guide pos="162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 /><Relationship Id="rId26" Type="http://schemas.openxmlformats.org/officeDocument/2006/relationships/tableStyles" Target="tableStyles.xml" /><Relationship Id="rId2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577256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4180317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832254718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744064929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4467110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66665964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89722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65674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001255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17024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69508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491253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43194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04565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509465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54018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02800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124876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4772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879969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885087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81254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406500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711744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49E5BB-844B-5F44-9E27-D8CA5A71E030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33330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048181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472083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8037274-00A3-FB69-355A-9613D68A34FD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4365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212110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122378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B985754-2AE5-C754-8340-EE5A036862D0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67625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930275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684839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299843-13C3-962F-ED68-7EDE856FFBB8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70387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77146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137341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72A0BC2-F79B-1070-EFBE-362190BAB1DA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71832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82798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838087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59B7F1-E959-2802-ED3B-2D3429B8D2CB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89707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41659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543192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2E585C3-3FCB-7880-DBB9-A467023FD33B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07625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16406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852584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52020B0-4F60-CED9-03B9-1896EADADC88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02812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345252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292708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45257D-708D-86CF-9CCD-E59521B9C1E7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60900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390138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657296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E1F3CB5-2E33-B41A-3BBC-9FD7BB7C3763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C3F101-98A3-1976-5E22-FD5F5BB406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E57404F-8E2A-ADE5-24F9-A21B671C6DE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4450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692992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51042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DAA98D-521C-35B6-7DAA-7FED94B37C6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42145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084881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23374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D578BC-8D09-CD57-4728-6A5DA67E3DA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84011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397567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2245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CFD6D1-AE03-ADBA-0FCF-D5A2FC30068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2226EAC-49BD-A845-2E6E-44F2E2D03A2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master 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614825" name="Image 0" descr="preencode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326557574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149852957" name="Image 1" descr="preencoded.png">
            <a:hlinkClick r:id="rId3" tooltip=""/>
          </p:cNvPr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media1.sv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media2.svg"/><Relationship Id="rId5" Type="http://schemas.openxmlformats.org/officeDocument/2006/relationships/image" Target="../media/image6.png"/><Relationship Id="rId6" Type="http://schemas.openxmlformats.org/officeDocument/2006/relationships/image" Target="../media/media3.svg"/><Relationship Id="rId7" Type="http://schemas.openxmlformats.org/officeDocument/2006/relationships/image" Target="../media/image7.png"/><Relationship Id="rId8" Type="http://schemas.openxmlformats.org/officeDocument/2006/relationships/image" Target="../media/media4.sv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0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1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2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9565178" name="Text 4"/>
          <p:cNvSpPr/>
          <p:nvPr/>
        </p:nvSpPr>
        <p:spPr bwMode="auto">
          <a:xfrm flipH="0" flipV="0">
            <a:off x="875734" y="1398087"/>
            <a:ext cx="1421282" cy="542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3600">
                <a:solidFill>
                  <a:srgbClr val="373B48"/>
                </a:solidFill>
                <a:latin typeface="Impact"/>
                <a:ea typeface="Impact"/>
                <a:cs typeface="Impact"/>
              </a:rPr>
              <a:t>FastX</a:t>
            </a:r>
            <a:endParaRPr sz="3600">
              <a:latin typeface="Impact"/>
              <a:cs typeface="Impact"/>
            </a:endParaRPr>
          </a:p>
        </p:txBody>
      </p:sp>
      <p:sp>
        <p:nvSpPr>
          <p:cNvPr id="135039143" name="Text 5"/>
          <p:cNvSpPr/>
          <p:nvPr/>
        </p:nvSpPr>
        <p:spPr bwMode="auto">
          <a:xfrm flipH="0" flipV="0">
            <a:off x="1256607" y="1940213"/>
            <a:ext cx="8129184" cy="788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3600">
                <a:solidFill>
                  <a:srgbClr val="373B48"/>
                </a:solidFill>
                <a:latin typeface="Mona Sans SemiBold"/>
                <a:ea typeface="Mona Sans SemiBold"/>
                <a:cs typeface="Mona Sans SemiBold"/>
              </a:rPr>
              <a:t>Online Bus Ticket Booking System</a:t>
            </a:r>
            <a:endParaRPr sz="3600"/>
          </a:p>
        </p:txBody>
      </p:sp>
      <p:pic>
        <p:nvPicPr>
          <p:cNvPr id="653292679" name="Image 1" descr="preencoded.png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>
            <a:off x="680323" y="3298987"/>
            <a:ext cx="2634630" cy="743248"/>
          </a:xfrm>
          <a:prstGeom prst="rect">
            <a:avLst/>
          </a:prstGeom>
        </p:spPr>
      </p:pic>
      <p:sp>
        <p:nvSpPr>
          <p:cNvPr id="1338775887" name="Text 9"/>
          <p:cNvSpPr/>
          <p:nvPr/>
        </p:nvSpPr>
        <p:spPr bwMode="auto">
          <a:xfrm>
            <a:off x="811376" y="3372891"/>
            <a:ext cx="860455" cy="194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400" b="1">
                <a:solidFill>
                  <a:srgbClr val="52586B"/>
                </a:solidFill>
                <a:latin typeface="Mona Sans SemiBold"/>
                <a:ea typeface="Mona Sans SemiBold"/>
                <a:cs typeface="Mona Sans SemiBold"/>
              </a:rPr>
              <a:t>Developer</a:t>
            </a:r>
            <a:endParaRPr sz="1400" b="1"/>
          </a:p>
        </p:txBody>
      </p:sp>
      <p:sp>
        <p:nvSpPr>
          <p:cNvPr id="1707552252" name="Text 10"/>
          <p:cNvSpPr/>
          <p:nvPr/>
        </p:nvSpPr>
        <p:spPr bwMode="auto">
          <a:xfrm>
            <a:off x="1519315" y="3641153"/>
            <a:ext cx="1087902" cy="1999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2000">
                <a:solidFill>
                  <a:srgbClr val="52586B"/>
                </a:solidFill>
                <a:latin typeface="Funnel Sans"/>
                <a:ea typeface="Funnel Sans"/>
                <a:cs typeface="Funnel Sans"/>
              </a:rPr>
              <a:t>Adhitya B</a:t>
            </a:r>
            <a:endParaRPr sz="2000"/>
          </a:p>
        </p:txBody>
      </p:sp>
      <p:pic>
        <p:nvPicPr>
          <p:cNvPr id="928186349" name="Image 2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755819" y="3298987"/>
            <a:ext cx="2634555" cy="743248"/>
          </a:xfrm>
          <a:prstGeom prst="rect">
            <a:avLst/>
          </a:prstGeom>
        </p:spPr>
      </p:pic>
      <p:sp>
        <p:nvSpPr>
          <p:cNvPr id="1247046155" name="Text 11"/>
          <p:cNvSpPr/>
          <p:nvPr/>
        </p:nvSpPr>
        <p:spPr bwMode="auto">
          <a:xfrm>
            <a:off x="5886872" y="3372891"/>
            <a:ext cx="603480" cy="194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400" b="1">
                <a:solidFill>
                  <a:srgbClr val="52586B"/>
                </a:solidFill>
                <a:latin typeface="Mona Sans SemiBold"/>
                <a:ea typeface="Mona Sans SemiBold"/>
                <a:cs typeface="Mona Sans SemiBold"/>
              </a:rPr>
              <a:t>Trainer</a:t>
            </a:r>
            <a:endParaRPr sz="1400" b="1"/>
          </a:p>
        </p:txBody>
      </p:sp>
      <p:sp>
        <p:nvSpPr>
          <p:cNvPr id="1315818552" name="Text 12"/>
          <p:cNvSpPr/>
          <p:nvPr/>
        </p:nvSpPr>
        <p:spPr bwMode="auto">
          <a:xfrm>
            <a:off x="6723527" y="3641153"/>
            <a:ext cx="819768" cy="1999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2000">
                <a:solidFill>
                  <a:srgbClr val="52586B"/>
                </a:solidFill>
                <a:latin typeface="Funnel Sans"/>
                <a:ea typeface="Funnel Sans"/>
                <a:cs typeface="Funnel Sans"/>
              </a:rPr>
              <a:t>Javeed</a:t>
            </a:r>
            <a:endParaRPr sz="2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497514" name="Text 0"/>
          <p:cNvSpPr/>
          <p:nvPr/>
        </p:nvSpPr>
        <p:spPr bwMode="auto">
          <a:xfrm>
            <a:off x="496118" y="597933"/>
            <a:ext cx="2474232" cy="387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400" b="1">
                <a:solidFill>
                  <a:srgbClr val="373B48"/>
                </a:solidFill>
                <a:latin typeface="Mona Sans SemiBold"/>
                <a:ea typeface="Mona Sans SemiBold"/>
                <a:cs typeface="Mona Sans SemiBold"/>
              </a:rPr>
              <a:t>Project Overview</a:t>
            </a:r>
            <a:endParaRPr sz="2400" b="1"/>
          </a:p>
        </p:txBody>
      </p:sp>
      <p:sp>
        <p:nvSpPr>
          <p:cNvPr id="887286023" name="Text 1"/>
          <p:cNvSpPr/>
          <p:nvPr/>
        </p:nvSpPr>
        <p:spPr bwMode="auto">
          <a:xfrm flipH="0" flipV="0">
            <a:off x="894605" y="1091916"/>
            <a:ext cx="7331144" cy="864570"/>
          </a:xfrm>
          <a:prstGeom prst="rect">
            <a:avLst/>
          </a:prstGeom>
          <a:noFill/>
          <a:ln/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normAutofit/>
          </a:bodyPr>
          <a:lstStyle/>
          <a:p>
            <a:pPr marL="0" indent="0" algn="just">
              <a:lnSpc>
                <a:spcPct val="133000"/>
              </a:lnSpc>
              <a:buNone/>
              <a:defRPr/>
            </a:pPr>
            <a:r>
              <a:rPr lang="en-US" sz="1200">
                <a:solidFill>
                  <a:srgbClr val="52586B"/>
                </a:solidFill>
                <a:latin typeface="Funnel Sans"/>
                <a:ea typeface="Funnel Sans"/>
                <a:cs typeface="Funnel Sans"/>
              </a:rPr>
              <a:t>FastX is a full-featured, role-based web platform that streamlines the entire bus travel lifecycle from search to seat selection, payment, and post-booking management. The system enforces strict access control across three distinct user roles.</a:t>
            </a:r>
            <a:endParaRPr sz="1200"/>
          </a:p>
        </p:txBody>
      </p:sp>
      <p:sp>
        <p:nvSpPr>
          <p:cNvPr id="1224338345" name="Shape 2"/>
          <p:cNvSpPr/>
          <p:nvPr/>
        </p:nvSpPr>
        <p:spPr bwMode="auto">
          <a:xfrm>
            <a:off x="431760" y="2156103"/>
            <a:ext cx="2634555" cy="1617165"/>
          </a:xfrm>
          <a:prstGeom prst="roundRect">
            <a:avLst>
              <a:gd name="adj" fmla="val 3222"/>
            </a:avLst>
          </a:prstGeom>
          <a:solidFill>
            <a:srgbClr val="E2E4E9"/>
          </a:solidFill>
          <a:ln w="4763">
            <a:solidFill>
              <a:srgbClr val="C8CACF"/>
            </a:solidFill>
            <a:prstDash val="solid"/>
          </a:ln>
        </p:spPr>
      </p:sp>
      <p:sp>
        <p:nvSpPr>
          <p:cNvPr id="1565187146" name="Shape 3"/>
          <p:cNvSpPr/>
          <p:nvPr/>
        </p:nvSpPr>
        <p:spPr bwMode="auto">
          <a:xfrm>
            <a:off x="560496" y="2284839"/>
            <a:ext cx="372070" cy="372070"/>
          </a:xfrm>
          <a:prstGeom prst="ellipse">
            <a:avLst/>
          </a:prstGeom>
          <a:solidFill>
            <a:srgbClr val="373B48"/>
          </a:solidFill>
          <a:ln/>
        </p:spPr>
      </p:sp>
      <p:sp>
        <p:nvSpPr>
          <p:cNvPr id="1233774734" name="Text 4"/>
          <p:cNvSpPr/>
          <p:nvPr/>
        </p:nvSpPr>
        <p:spPr bwMode="auto">
          <a:xfrm>
            <a:off x="662815" y="2366173"/>
            <a:ext cx="167432" cy="2093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  <a:defRPr/>
            </a:pPr>
            <a:r>
              <a:rPr lang="en-US" sz="1300">
                <a:solidFill>
                  <a:srgbClr val="FFFFFF"/>
                </a:solidFill>
                <a:latin typeface="Mona Sans SemiBold"/>
                <a:ea typeface="Mona Sans SemiBold"/>
                <a:cs typeface="Mona Sans SemiBold"/>
              </a:rPr>
              <a:t>1</a:t>
            </a:r>
            <a:endParaRPr lang="en-US" sz="1300"/>
          </a:p>
        </p:txBody>
      </p:sp>
      <p:sp>
        <p:nvSpPr>
          <p:cNvPr id="1306490511" name="Text 5"/>
          <p:cNvSpPr/>
          <p:nvPr/>
        </p:nvSpPr>
        <p:spPr bwMode="auto">
          <a:xfrm>
            <a:off x="560496" y="2780883"/>
            <a:ext cx="1254363" cy="194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52586B"/>
                </a:solidFill>
                <a:latin typeface="Mona Sans SemiBold"/>
                <a:ea typeface="Mona Sans SemiBold"/>
                <a:cs typeface="Mona Sans SemiBold"/>
              </a:rPr>
              <a:t>Passenger (User)</a:t>
            </a:r>
            <a:endParaRPr sz="1200" b="1"/>
          </a:p>
        </p:txBody>
      </p:sp>
      <p:sp>
        <p:nvSpPr>
          <p:cNvPr id="946542090" name="Text 6"/>
          <p:cNvSpPr/>
          <p:nvPr/>
        </p:nvSpPr>
        <p:spPr bwMode="auto">
          <a:xfrm>
            <a:off x="560496" y="3049146"/>
            <a:ext cx="237708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950">
                <a:solidFill>
                  <a:srgbClr val="52586B"/>
                </a:solidFill>
                <a:latin typeface="Funnel Sans"/>
                <a:ea typeface="Funnel Sans"/>
                <a:cs typeface="Funnel Sans"/>
              </a:rPr>
              <a:t>Searches buses, selects seats, books tickets, manages profile, and requests cancellations or refunds.</a:t>
            </a:r>
            <a:endParaRPr lang="en-US" sz="950"/>
          </a:p>
        </p:txBody>
      </p:sp>
      <p:sp>
        <p:nvSpPr>
          <p:cNvPr id="586214053" name="Shape 7"/>
          <p:cNvSpPr/>
          <p:nvPr/>
        </p:nvSpPr>
        <p:spPr bwMode="auto">
          <a:xfrm>
            <a:off x="3254647" y="3121475"/>
            <a:ext cx="2634630" cy="1617165"/>
          </a:xfrm>
          <a:prstGeom prst="roundRect">
            <a:avLst>
              <a:gd name="adj" fmla="val 3222"/>
            </a:avLst>
          </a:prstGeom>
          <a:solidFill>
            <a:srgbClr val="E2E4E9"/>
          </a:solidFill>
          <a:ln w="4763">
            <a:solidFill>
              <a:srgbClr val="C8CACF"/>
            </a:solidFill>
            <a:prstDash val="solid"/>
          </a:ln>
        </p:spPr>
      </p:sp>
      <p:sp>
        <p:nvSpPr>
          <p:cNvPr id="1944131831" name="Shape 8"/>
          <p:cNvSpPr/>
          <p:nvPr/>
        </p:nvSpPr>
        <p:spPr bwMode="auto">
          <a:xfrm>
            <a:off x="3383383" y="3250211"/>
            <a:ext cx="372070" cy="372070"/>
          </a:xfrm>
          <a:prstGeom prst="ellipse">
            <a:avLst/>
          </a:prstGeom>
          <a:solidFill>
            <a:srgbClr val="373B48"/>
          </a:solidFill>
          <a:ln/>
        </p:spPr>
      </p:sp>
      <p:sp>
        <p:nvSpPr>
          <p:cNvPr id="1601723284" name="Text 9"/>
          <p:cNvSpPr/>
          <p:nvPr/>
        </p:nvSpPr>
        <p:spPr bwMode="auto">
          <a:xfrm>
            <a:off x="3485703" y="3331545"/>
            <a:ext cx="167432" cy="2093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  <a:defRPr/>
            </a:pPr>
            <a:r>
              <a:rPr lang="en-US" sz="1300">
                <a:solidFill>
                  <a:srgbClr val="FFFFFF"/>
                </a:solidFill>
                <a:latin typeface="Mona Sans SemiBold"/>
                <a:ea typeface="Mona Sans SemiBold"/>
                <a:cs typeface="Mona Sans SemiBold"/>
              </a:rPr>
              <a:t>2</a:t>
            </a:r>
            <a:endParaRPr lang="en-US" sz="1300"/>
          </a:p>
        </p:txBody>
      </p:sp>
      <p:sp>
        <p:nvSpPr>
          <p:cNvPr id="1922963438" name="Text 10"/>
          <p:cNvSpPr/>
          <p:nvPr/>
        </p:nvSpPr>
        <p:spPr bwMode="auto">
          <a:xfrm>
            <a:off x="3383383" y="3746255"/>
            <a:ext cx="974567" cy="194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52586B"/>
                </a:solidFill>
                <a:latin typeface="Mona Sans SemiBold"/>
                <a:ea typeface="Mona Sans SemiBold"/>
                <a:cs typeface="Mona Sans SemiBold"/>
              </a:rPr>
              <a:t>Bus Operator</a:t>
            </a:r>
            <a:endParaRPr sz="1200" b="1"/>
          </a:p>
        </p:txBody>
      </p:sp>
      <p:sp>
        <p:nvSpPr>
          <p:cNvPr id="1712779599" name="Text 11"/>
          <p:cNvSpPr/>
          <p:nvPr/>
        </p:nvSpPr>
        <p:spPr bwMode="auto">
          <a:xfrm>
            <a:off x="3383383" y="4014518"/>
            <a:ext cx="2377157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950">
                <a:solidFill>
                  <a:srgbClr val="52586B"/>
                </a:solidFill>
                <a:latin typeface="Funnel Sans"/>
                <a:ea typeface="Funnel Sans"/>
                <a:cs typeface="Funnel Sans"/>
              </a:rPr>
              <a:t>Manages bus schedules, fares, passenger manifests, and approves or rejects refund requests.</a:t>
            </a:r>
            <a:endParaRPr lang="en-US" sz="950"/>
          </a:p>
        </p:txBody>
      </p:sp>
      <p:sp>
        <p:nvSpPr>
          <p:cNvPr id="754086388" name="Shape 12"/>
          <p:cNvSpPr/>
          <p:nvPr/>
        </p:nvSpPr>
        <p:spPr bwMode="auto">
          <a:xfrm>
            <a:off x="6013251" y="2156103"/>
            <a:ext cx="2634555" cy="1617165"/>
          </a:xfrm>
          <a:prstGeom prst="roundRect">
            <a:avLst>
              <a:gd name="adj" fmla="val 3222"/>
            </a:avLst>
          </a:prstGeom>
          <a:solidFill>
            <a:srgbClr val="E2E4E9"/>
          </a:solidFill>
          <a:ln w="4763">
            <a:solidFill>
              <a:srgbClr val="C8CACF"/>
            </a:solidFill>
            <a:prstDash val="solid"/>
          </a:ln>
        </p:spPr>
      </p:sp>
      <p:sp>
        <p:nvSpPr>
          <p:cNvPr id="343102651" name="Shape 13"/>
          <p:cNvSpPr/>
          <p:nvPr/>
        </p:nvSpPr>
        <p:spPr bwMode="auto">
          <a:xfrm>
            <a:off x="6141987" y="2284839"/>
            <a:ext cx="372070" cy="372070"/>
          </a:xfrm>
          <a:prstGeom prst="ellipse">
            <a:avLst/>
          </a:prstGeom>
          <a:solidFill>
            <a:srgbClr val="373B48"/>
          </a:solidFill>
          <a:ln/>
        </p:spPr>
      </p:sp>
      <p:sp>
        <p:nvSpPr>
          <p:cNvPr id="1016674775" name="Text 14"/>
          <p:cNvSpPr/>
          <p:nvPr/>
        </p:nvSpPr>
        <p:spPr bwMode="auto">
          <a:xfrm>
            <a:off x="6244306" y="2366173"/>
            <a:ext cx="167432" cy="2093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  <a:defRPr/>
            </a:pPr>
            <a:r>
              <a:rPr lang="en-US" sz="1300">
                <a:solidFill>
                  <a:srgbClr val="FFFFFF"/>
                </a:solidFill>
                <a:latin typeface="Mona Sans SemiBold"/>
                <a:ea typeface="Mona Sans SemiBold"/>
                <a:cs typeface="Mona Sans SemiBold"/>
              </a:rPr>
              <a:t>3</a:t>
            </a:r>
            <a:endParaRPr lang="en-US" sz="1300"/>
          </a:p>
        </p:txBody>
      </p:sp>
      <p:sp>
        <p:nvSpPr>
          <p:cNvPr id="542724508" name="Text 15"/>
          <p:cNvSpPr/>
          <p:nvPr/>
        </p:nvSpPr>
        <p:spPr bwMode="auto">
          <a:xfrm>
            <a:off x="6141987" y="2780883"/>
            <a:ext cx="1584388" cy="194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52586B"/>
                </a:solidFill>
                <a:latin typeface="Mona Sans SemiBold"/>
                <a:ea typeface="Mona Sans SemiBold"/>
                <a:cs typeface="Mona Sans SemiBold"/>
              </a:rPr>
              <a:t>System Administrator</a:t>
            </a:r>
            <a:endParaRPr sz="1200" b="1"/>
          </a:p>
        </p:txBody>
      </p:sp>
      <p:sp>
        <p:nvSpPr>
          <p:cNvPr id="1046197198" name="Text 16"/>
          <p:cNvSpPr/>
          <p:nvPr/>
        </p:nvSpPr>
        <p:spPr bwMode="auto">
          <a:xfrm>
            <a:off x="6141987" y="3049146"/>
            <a:ext cx="237708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950">
                <a:solidFill>
                  <a:srgbClr val="52586B"/>
                </a:solidFill>
                <a:latin typeface="Funnel Sans"/>
                <a:ea typeface="Funnel Sans"/>
                <a:cs typeface="Funnel Sans"/>
              </a:rPr>
              <a:t>Oversees platform-wide metrics, verifies operators, manages user accounts, and audits all transactions.</a:t>
            </a:r>
            <a:endParaRPr lang="en-US" sz="9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0344423" name="Text 0"/>
          <p:cNvSpPr/>
          <p:nvPr/>
        </p:nvSpPr>
        <p:spPr bwMode="auto">
          <a:xfrm>
            <a:off x="496118" y="388812"/>
            <a:ext cx="2256722" cy="375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350" b="1">
                <a:solidFill>
                  <a:srgbClr val="373B48"/>
                </a:solidFill>
                <a:latin typeface="Mona Sans SemiBold"/>
                <a:ea typeface="Mona Sans SemiBold"/>
                <a:cs typeface="Mona Sans SemiBold"/>
              </a:rPr>
              <a:t>Technical Stack</a:t>
            </a:r>
            <a:endParaRPr sz="2350" b="1"/>
          </a:p>
        </p:txBody>
      </p:sp>
      <p:sp>
        <p:nvSpPr>
          <p:cNvPr id="173775846" name="Text 1"/>
          <p:cNvSpPr/>
          <p:nvPr/>
        </p:nvSpPr>
        <p:spPr bwMode="auto">
          <a:xfrm flipH="0" flipV="0">
            <a:off x="915196" y="764665"/>
            <a:ext cx="7099455" cy="706219"/>
          </a:xfrm>
          <a:prstGeom prst="rect">
            <a:avLst/>
          </a:prstGeom>
          <a:noFill/>
          <a:ln/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normAutofit/>
          </a:bodyPr>
          <a:lstStyle/>
          <a:p>
            <a:pPr marL="0" indent="0" algn="l">
              <a:lnSpc>
                <a:spcPct val="131000"/>
              </a:lnSpc>
              <a:buNone/>
              <a:defRPr/>
            </a:pPr>
            <a:r>
              <a:rPr lang="en-US" sz="1400">
                <a:solidFill>
                  <a:srgbClr val="52586B"/>
                </a:solidFill>
                <a:latin typeface="Times New Roman"/>
                <a:ea typeface="Times New Roman"/>
                <a:cs typeface="Times New Roman"/>
              </a:rPr>
              <a:t>FastX follows a decoupled three-tier architecture separating concerns across frontend, backend, database, and DevOps layers for scalability and maintainability.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08745749" name="Shape 2"/>
          <p:cNvSpPr/>
          <p:nvPr/>
        </p:nvSpPr>
        <p:spPr bwMode="auto">
          <a:xfrm>
            <a:off x="409575" y="1506438"/>
            <a:ext cx="4102373" cy="3248248"/>
          </a:xfrm>
          <a:prstGeom prst="roundRect">
            <a:avLst>
              <a:gd name="adj" fmla="val 2664"/>
            </a:avLst>
          </a:prstGeom>
          <a:solidFill>
            <a:srgbClr val="373B48">
              <a:alpha val="95000"/>
            </a:srgbClr>
          </a:solidFill>
          <a:ln/>
        </p:spPr>
      </p:sp>
      <p:sp>
        <p:nvSpPr>
          <p:cNvPr id="1923660193" name="Text 3"/>
          <p:cNvSpPr/>
          <p:nvPr/>
        </p:nvSpPr>
        <p:spPr bwMode="auto">
          <a:xfrm>
            <a:off x="529678" y="1751537"/>
            <a:ext cx="771035" cy="188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Mona Sans SemiBold"/>
                <a:ea typeface="Mona Sans SemiBold"/>
                <a:cs typeface="Mona Sans SemiBold"/>
              </a:rPr>
              <a:t>Frontend</a:t>
            </a:r>
            <a:endParaRPr sz="1400" b="1"/>
          </a:p>
        </p:txBody>
      </p:sp>
      <p:sp>
        <p:nvSpPr>
          <p:cNvPr id="445671682" name="Text 4"/>
          <p:cNvSpPr/>
          <p:nvPr/>
        </p:nvSpPr>
        <p:spPr bwMode="auto">
          <a:xfrm flipH="0" flipV="0">
            <a:off x="529678" y="2059459"/>
            <a:ext cx="3862163" cy="2695226"/>
          </a:xfrm>
          <a:prstGeom prst="rect">
            <a:avLst/>
          </a:prstGeom>
          <a:noFill/>
          <a:ln/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normAutofit/>
          </a:bodyPr>
          <a:lstStyle/>
          <a:p>
            <a:pPr marL="182880" indent="-182880" algn="l">
              <a:lnSpc>
                <a:spcPct val="131000"/>
              </a:lnSpc>
              <a:buSzPct val="100000"/>
              <a:buChar char="•"/>
              <a:defRPr/>
            </a:pPr>
            <a:r>
              <a:rPr lang="en-US" sz="1100" b="1">
                <a:solidFill>
                  <a:srgbClr val="FFFFFF"/>
                </a:solidFill>
                <a:latin typeface="DejaVu Math TeX Gyre"/>
                <a:ea typeface="DejaVu Math TeX Gyre"/>
                <a:cs typeface="DejaVu Math TeX Gyre"/>
              </a:rPr>
              <a:t>React.js + Vite</a:t>
            </a:r>
            <a:r>
              <a:rPr lang="en-US" sz="1100">
                <a:solidFill>
                  <a:srgbClr val="FFFFFF"/>
                </a:solidFill>
                <a:latin typeface="DejaVu Math TeX Gyre"/>
                <a:ea typeface="DejaVu Math TeX Gyre"/>
                <a:cs typeface="DejaVu Math TeX Gyre"/>
              </a:rPr>
              <a:t> — Fast HMR and optimized compilation</a:t>
            </a:r>
            <a:endParaRPr sz="1100">
              <a:latin typeface="DejaVu Math TeX Gyre"/>
              <a:cs typeface="DejaVu Math TeX Gyre"/>
            </a:endParaRPr>
          </a:p>
          <a:p>
            <a:pPr marL="182880" indent="-182880" algn="l">
              <a:lnSpc>
                <a:spcPct val="131000"/>
              </a:lnSpc>
              <a:buSzPct val="100000"/>
              <a:buChar char="•"/>
              <a:defRPr/>
            </a:pPr>
            <a:r>
              <a:rPr lang="en-US" sz="1100" b="1">
                <a:solidFill>
                  <a:srgbClr val="FFFFFF"/>
                </a:solidFill>
                <a:latin typeface="DejaVu Math TeX Gyre"/>
                <a:ea typeface="DejaVu Math TeX Gyre"/>
                <a:cs typeface="DejaVu Math TeX Gyre"/>
              </a:rPr>
              <a:t>Bootstrap CSS</a:t>
            </a:r>
            <a:r>
              <a:rPr lang="en-US" sz="1100">
                <a:solidFill>
                  <a:srgbClr val="FFFFFF"/>
                </a:solidFill>
                <a:latin typeface="DejaVu Math TeX Gyre"/>
                <a:ea typeface="DejaVu Math TeX Gyre"/>
                <a:cs typeface="DejaVu Math TeX Gyre"/>
              </a:rPr>
              <a:t> — Custom premium components, responsive layouts</a:t>
            </a:r>
            <a:endParaRPr sz="1100">
              <a:latin typeface="DejaVu Math TeX Gyre"/>
              <a:cs typeface="DejaVu Math TeX Gyre"/>
            </a:endParaRPr>
          </a:p>
          <a:p>
            <a:pPr marL="182880" indent="-182880" algn="l">
              <a:lnSpc>
                <a:spcPct val="131000"/>
              </a:lnSpc>
              <a:buSzPct val="100000"/>
              <a:buChar char="•"/>
              <a:defRPr/>
            </a:pPr>
            <a:r>
              <a:rPr lang="en-US" sz="1100" b="1">
                <a:solidFill>
                  <a:srgbClr val="FFFFFF"/>
                </a:solidFill>
                <a:latin typeface="DejaVu Math TeX Gyre"/>
                <a:ea typeface="DejaVu Math TeX Gyre"/>
                <a:cs typeface="DejaVu Math TeX Gyre"/>
              </a:rPr>
              <a:t>React Router DOM</a:t>
            </a:r>
            <a:r>
              <a:rPr lang="en-US" sz="1100">
                <a:solidFill>
                  <a:srgbClr val="FFFFFF"/>
                </a:solidFill>
                <a:latin typeface="DejaVu Math TeX Gyre"/>
                <a:ea typeface="DejaVu Math TeX Gyre"/>
                <a:cs typeface="DejaVu Math TeX Gyre"/>
              </a:rPr>
              <a:t> — Role-based private route guards, 404 handling</a:t>
            </a:r>
            <a:endParaRPr sz="1100">
              <a:latin typeface="DejaVu Math TeX Gyre"/>
              <a:cs typeface="DejaVu Math TeX Gyre"/>
            </a:endParaRPr>
          </a:p>
          <a:p>
            <a:pPr marL="182880" indent="-182880" algn="l">
              <a:lnSpc>
                <a:spcPct val="131000"/>
              </a:lnSpc>
              <a:buSzPct val="100000"/>
              <a:buChar char="•"/>
              <a:defRPr/>
            </a:pPr>
            <a:r>
              <a:rPr lang="en-US" sz="1100" b="1">
                <a:solidFill>
                  <a:srgbClr val="FFFFFF"/>
                </a:solidFill>
                <a:latin typeface="DejaVu Math TeX Gyre"/>
                <a:ea typeface="DejaVu Math TeX Gyre"/>
                <a:cs typeface="DejaVu Math TeX Gyre"/>
              </a:rPr>
              <a:t>Context API</a:t>
            </a:r>
            <a:r>
              <a:rPr lang="en-US" sz="1100">
                <a:solidFill>
                  <a:srgbClr val="FFFFFF"/>
                </a:solidFill>
                <a:latin typeface="DejaVu Math TeX Gyre"/>
                <a:ea typeface="DejaVu Math TeX Gyre"/>
                <a:cs typeface="DejaVu Math TeX Gyre"/>
              </a:rPr>
              <a:t> — Global auth state and session management</a:t>
            </a:r>
            <a:endParaRPr sz="1100">
              <a:latin typeface="DejaVu Math TeX Gyre"/>
              <a:cs typeface="DejaVu Math TeX Gyre"/>
            </a:endParaRPr>
          </a:p>
          <a:p>
            <a:pPr marL="182880" indent="-182880" algn="l">
              <a:lnSpc>
                <a:spcPct val="131000"/>
              </a:lnSpc>
              <a:buSzPct val="100000"/>
              <a:buChar char="•"/>
              <a:defRPr/>
            </a:pPr>
            <a:r>
              <a:rPr lang="en-US" sz="1100" b="1">
                <a:solidFill>
                  <a:srgbClr val="FFFFFF"/>
                </a:solidFill>
                <a:latin typeface="DejaVu Math TeX Gyre"/>
                <a:ea typeface="DejaVu Math TeX Gyre"/>
                <a:cs typeface="DejaVu Math TeX Gyre"/>
              </a:rPr>
              <a:t>Axios</a:t>
            </a:r>
            <a:r>
              <a:rPr lang="en-US" sz="1100">
                <a:solidFill>
                  <a:srgbClr val="FFFFFF"/>
                </a:solidFill>
                <a:latin typeface="DejaVu Math TeX Gyre"/>
                <a:ea typeface="DejaVu Math TeX Gyre"/>
                <a:cs typeface="DejaVu Math TeX Gyre"/>
              </a:rPr>
              <a:t> — JWT interceptor for automatic authorization headers</a:t>
            </a:r>
            <a:endParaRPr sz="1100">
              <a:latin typeface="DejaVu Math TeX Gyre"/>
              <a:cs typeface="DejaVu Math TeX Gyre"/>
            </a:endParaRPr>
          </a:p>
          <a:p>
            <a:pPr marL="182880" indent="-182880" algn="l">
              <a:lnSpc>
                <a:spcPct val="131000"/>
              </a:lnSpc>
              <a:buSzPct val="100000"/>
              <a:buChar char="•"/>
              <a:defRPr/>
            </a:pPr>
            <a:r>
              <a:rPr lang="en-US" sz="1100" b="1">
                <a:solidFill>
                  <a:srgbClr val="FFFFFF"/>
                </a:solidFill>
                <a:latin typeface="DejaVu Math TeX Gyre"/>
                <a:ea typeface="DejaVu Math TeX Gyre"/>
                <a:cs typeface="DejaVu Math TeX Gyre"/>
              </a:rPr>
              <a:t>React Icons</a:t>
            </a:r>
            <a:r>
              <a:rPr lang="en-US" sz="1100">
                <a:solidFill>
                  <a:srgbClr val="FFFFFF"/>
                </a:solidFill>
                <a:latin typeface="DejaVu Math TeX Gyre"/>
                <a:ea typeface="DejaVu Math TeX Gyre"/>
                <a:cs typeface="DejaVu Math TeX Gyre"/>
              </a:rPr>
              <a:t> — Fa, Md, Io icon sets</a:t>
            </a:r>
            <a:endParaRPr sz="1100">
              <a:latin typeface="DejaVu Math TeX Gyre"/>
              <a:cs typeface="DejaVu Math TeX Gyre"/>
            </a:endParaRPr>
          </a:p>
        </p:txBody>
      </p:sp>
      <p:sp>
        <p:nvSpPr>
          <p:cNvPr id="85164665" name="Text 5"/>
          <p:cNvSpPr/>
          <p:nvPr/>
        </p:nvSpPr>
        <p:spPr bwMode="auto">
          <a:xfrm>
            <a:off x="4723357" y="1622821"/>
            <a:ext cx="741866" cy="188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400" b="1">
                <a:solidFill>
                  <a:srgbClr val="373B48"/>
                </a:solidFill>
                <a:latin typeface="Mona Sans SemiBold"/>
                <a:ea typeface="Mona Sans SemiBold"/>
                <a:cs typeface="Mona Sans SemiBold"/>
              </a:rPr>
              <a:t>Backend</a:t>
            </a:r>
            <a:endParaRPr sz="1400" b="1"/>
          </a:p>
        </p:txBody>
      </p:sp>
      <p:sp>
        <p:nvSpPr>
          <p:cNvPr id="1149075322" name="Text 6"/>
          <p:cNvSpPr/>
          <p:nvPr/>
        </p:nvSpPr>
        <p:spPr bwMode="auto">
          <a:xfrm>
            <a:off x="4723358" y="1926952"/>
            <a:ext cx="3929286" cy="1338932"/>
          </a:xfrm>
          <a:prstGeom prst="rect">
            <a:avLst/>
          </a:prstGeom>
          <a:noFill/>
          <a:ln/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normAutofit fontScale="95000" lnSpcReduction="1000"/>
          </a:bodyPr>
          <a:lstStyle/>
          <a:p>
            <a:pPr marL="182880" indent="-182880" algn="l">
              <a:lnSpc>
                <a:spcPct val="131000"/>
              </a:lnSpc>
              <a:buSzPct val="100000"/>
              <a:buChar char="•"/>
              <a:defRPr/>
            </a:pPr>
            <a:r>
              <a:rPr lang="en-US" sz="1100" b="1">
                <a:solidFill>
                  <a:srgbClr val="52586B"/>
                </a:solidFill>
                <a:latin typeface="Funnel Sans Bold"/>
                <a:ea typeface="Funnel Sans Bold"/>
                <a:cs typeface="Funnel Sans Bold"/>
              </a:rPr>
              <a:t>Spring Boot (Java 17)</a:t>
            </a:r>
            <a:r>
              <a:rPr lang="en-US" sz="1100">
                <a:solidFill>
                  <a:srgbClr val="52586B"/>
                </a:solidFill>
                <a:latin typeface="Funnel Sans"/>
                <a:ea typeface="Funnel Sans"/>
                <a:cs typeface="Funnel Sans"/>
              </a:rPr>
              <a:t> — Core REST API framework</a:t>
            </a:r>
            <a:endParaRPr sz="1100"/>
          </a:p>
          <a:p>
            <a:pPr marL="182880" indent="-182880" algn="l">
              <a:lnSpc>
                <a:spcPct val="131000"/>
              </a:lnSpc>
              <a:buSzPct val="100000"/>
              <a:buChar char="•"/>
              <a:defRPr/>
            </a:pPr>
            <a:r>
              <a:rPr lang="en-US" sz="1100" b="1">
                <a:solidFill>
                  <a:srgbClr val="52586B"/>
                </a:solidFill>
                <a:latin typeface="Funnel Sans Bold"/>
                <a:ea typeface="Funnel Sans Bold"/>
                <a:cs typeface="Funnel Sans Bold"/>
              </a:rPr>
              <a:t>Spring Security 6</a:t>
            </a:r>
            <a:r>
              <a:rPr lang="en-US" sz="1100">
                <a:solidFill>
                  <a:srgbClr val="52586B"/>
                </a:solidFill>
                <a:latin typeface="Funnel Sans"/>
                <a:ea typeface="Funnel Sans"/>
                <a:cs typeface="Funnel Sans"/>
              </a:rPr>
              <a:t> — JWT stateless auth, BCrypt, @PreAuthorize</a:t>
            </a:r>
            <a:endParaRPr sz="1100"/>
          </a:p>
          <a:p>
            <a:pPr marL="182880" indent="-182880" algn="l">
              <a:lnSpc>
                <a:spcPct val="131000"/>
              </a:lnSpc>
              <a:buSzPct val="100000"/>
              <a:buChar char="•"/>
              <a:defRPr/>
            </a:pPr>
            <a:r>
              <a:rPr lang="en-US" sz="1100" b="1">
                <a:solidFill>
                  <a:srgbClr val="52586B"/>
                </a:solidFill>
                <a:latin typeface="Funnel Sans Bold"/>
                <a:ea typeface="Funnel Sans Bold"/>
                <a:cs typeface="Funnel Sans Bold"/>
              </a:rPr>
              <a:t>Hibernate / Spring Data JPA</a:t>
            </a:r>
            <a:r>
              <a:rPr lang="en-US" sz="1100">
                <a:solidFill>
                  <a:srgbClr val="52586B"/>
                </a:solidFill>
                <a:latin typeface="Funnel Sans"/>
                <a:ea typeface="Funnel Sans"/>
                <a:cs typeface="Funnel Sans"/>
              </a:rPr>
              <a:t> — ORM layer for database access</a:t>
            </a:r>
            <a:endParaRPr sz="1100"/>
          </a:p>
          <a:p>
            <a:pPr marL="182880" indent="-182880" algn="l">
              <a:lnSpc>
                <a:spcPct val="131000"/>
              </a:lnSpc>
              <a:buSzPct val="100000"/>
              <a:buChar char="•"/>
              <a:defRPr/>
            </a:pPr>
            <a:r>
              <a:rPr lang="en-US" sz="1100" b="1">
                <a:solidFill>
                  <a:srgbClr val="52586B"/>
                </a:solidFill>
                <a:latin typeface="Funnel Sans Bold"/>
                <a:ea typeface="Funnel Sans Bold"/>
                <a:cs typeface="Funnel Sans Bold"/>
              </a:rPr>
              <a:t>JavaMailSender</a:t>
            </a:r>
            <a:r>
              <a:rPr lang="en-US" sz="1100">
                <a:solidFill>
                  <a:srgbClr val="52586B"/>
                </a:solidFill>
                <a:latin typeface="Funnel Sans"/>
                <a:ea typeface="Funnel Sans"/>
                <a:cs typeface="Funnel Sans"/>
              </a:rPr>
              <a:t> — HTML/CSS responsive MIME email templates</a:t>
            </a:r>
            <a:endParaRPr sz="1100"/>
          </a:p>
          <a:p>
            <a:pPr marL="182880" indent="-182880" algn="l">
              <a:lnSpc>
                <a:spcPct val="131000"/>
              </a:lnSpc>
              <a:buSzPct val="100000"/>
              <a:buChar char="•"/>
              <a:defRPr/>
            </a:pPr>
            <a:r>
              <a:rPr lang="en-US" sz="1100" b="1">
                <a:solidFill>
                  <a:srgbClr val="52586B"/>
                </a:solidFill>
                <a:latin typeface="Funnel Sans Bold"/>
                <a:ea typeface="Funnel Sans Bold"/>
                <a:cs typeface="Funnel Sans Bold"/>
              </a:rPr>
              <a:t>Razorpay Java SDK</a:t>
            </a:r>
            <a:r>
              <a:rPr lang="en-US" sz="1100">
                <a:solidFill>
                  <a:srgbClr val="52586B"/>
                </a:solidFill>
                <a:latin typeface="Funnel Sans"/>
                <a:ea typeface="Funnel Sans"/>
                <a:cs typeface="Funnel Sans"/>
              </a:rPr>
              <a:t> — Payment creation, verification, refunds</a:t>
            </a:r>
            <a:endParaRPr sz="1100"/>
          </a:p>
          <a:p>
            <a:pPr marL="182880" indent="-182880" algn="l">
              <a:lnSpc>
                <a:spcPct val="131000"/>
              </a:lnSpc>
              <a:buSzPct val="100000"/>
              <a:buChar char="•"/>
              <a:defRPr/>
            </a:pPr>
            <a:r>
              <a:rPr lang="en-US" sz="1100" b="1">
                <a:solidFill>
                  <a:srgbClr val="52586B"/>
                </a:solidFill>
                <a:latin typeface="Funnel Sans Bold"/>
                <a:ea typeface="Funnel Sans Bold"/>
                <a:cs typeface="Funnel Sans Bold"/>
              </a:rPr>
              <a:t>Scheduled Tasks</a:t>
            </a:r>
            <a:r>
              <a:rPr lang="en-US" sz="1100">
                <a:solidFill>
                  <a:srgbClr val="52586B"/>
                </a:solidFill>
                <a:latin typeface="Funnel Sans"/>
                <a:ea typeface="Funnel Sans"/>
                <a:cs typeface="Funnel Sans"/>
              </a:rPr>
              <a:t> — Cron-based expiry scanning for seat locks</a:t>
            </a:r>
            <a:endParaRPr sz="1100"/>
          </a:p>
        </p:txBody>
      </p:sp>
      <p:sp>
        <p:nvSpPr>
          <p:cNvPr id="1298761007" name="Text 7"/>
          <p:cNvSpPr/>
          <p:nvPr/>
        </p:nvSpPr>
        <p:spPr bwMode="auto">
          <a:xfrm>
            <a:off x="4723357" y="3382267"/>
            <a:ext cx="1690498" cy="188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400" b="1">
                <a:solidFill>
                  <a:srgbClr val="373B48"/>
                </a:solidFill>
                <a:latin typeface="Mona Sans SemiBold"/>
                <a:ea typeface="Mona Sans SemiBold"/>
                <a:cs typeface="Mona Sans SemiBold"/>
              </a:rPr>
              <a:t>Database &amp; DevOps</a:t>
            </a:r>
            <a:endParaRPr sz="1400" b="1"/>
          </a:p>
        </p:txBody>
      </p:sp>
      <p:sp>
        <p:nvSpPr>
          <p:cNvPr id="1570939322" name="Text 8"/>
          <p:cNvSpPr/>
          <p:nvPr/>
        </p:nvSpPr>
        <p:spPr bwMode="auto">
          <a:xfrm>
            <a:off x="4723358" y="3686398"/>
            <a:ext cx="3929286" cy="1027584"/>
          </a:xfrm>
          <a:prstGeom prst="rect">
            <a:avLst/>
          </a:prstGeom>
          <a:noFill/>
          <a:ln/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normAutofit fontScale="85000" lnSpcReduction="3000"/>
          </a:bodyPr>
          <a:lstStyle/>
          <a:p>
            <a:pPr marL="182880" indent="-182880" algn="l">
              <a:lnSpc>
                <a:spcPct val="131000"/>
              </a:lnSpc>
              <a:buSzPct val="100000"/>
              <a:buChar char="•"/>
              <a:defRPr/>
            </a:pPr>
            <a:r>
              <a:rPr lang="en-US" sz="1200" b="1">
                <a:solidFill>
                  <a:srgbClr val="52586B"/>
                </a:solidFill>
                <a:latin typeface="Funnel Sans Bold"/>
                <a:ea typeface="Funnel Sans Bold"/>
                <a:cs typeface="Funnel Sans Bold"/>
              </a:rPr>
              <a:t>MySQL 8.x</a:t>
            </a:r>
            <a:r>
              <a:rPr lang="en-US" sz="1200">
                <a:solidFill>
                  <a:srgbClr val="52586B"/>
                </a:solidFill>
                <a:latin typeface="Funnel Sans"/>
                <a:ea typeface="Funnel Sans"/>
                <a:cs typeface="Funnel Sans"/>
              </a:rPr>
              <a:t> — Relational schema with FK constraints, indexes, soft-delete</a:t>
            </a:r>
            <a:endParaRPr sz="1200"/>
          </a:p>
          <a:p>
            <a:pPr marL="182880" indent="-182880" algn="l">
              <a:lnSpc>
                <a:spcPct val="131000"/>
              </a:lnSpc>
              <a:buSzPct val="100000"/>
              <a:buChar char="•"/>
              <a:defRPr/>
            </a:pPr>
            <a:r>
              <a:rPr lang="en-US" sz="1200" b="1">
                <a:solidFill>
                  <a:srgbClr val="52586B"/>
                </a:solidFill>
                <a:latin typeface="Funnel Sans Bold"/>
                <a:ea typeface="Funnel Sans Bold"/>
                <a:cs typeface="Funnel Sans Bold"/>
              </a:rPr>
              <a:t>Docker &amp; Docker Compose</a:t>
            </a:r>
            <a:r>
              <a:rPr lang="en-US" sz="1200">
                <a:solidFill>
                  <a:srgbClr val="52586B"/>
                </a:solidFill>
                <a:latin typeface="Funnel Sans"/>
                <a:ea typeface="Funnel Sans"/>
                <a:cs typeface="Funnel Sans"/>
              </a:rPr>
              <a:t> — Isolated backend, frontend, and DB services</a:t>
            </a:r>
            <a:endParaRPr sz="1200"/>
          </a:p>
          <a:p>
            <a:pPr marL="182880" indent="-182880" algn="l">
              <a:lnSpc>
                <a:spcPct val="131000"/>
              </a:lnSpc>
              <a:buSzPct val="100000"/>
              <a:buChar char="•"/>
              <a:defRPr/>
            </a:pPr>
            <a:r>
              <a:rPr lang="en-US" sz="1200" b="1">
                <a:solidFill>
                  <a:srgbClr val="52586B"/>
                </a:solidFill>
                <a:latin typeface="Funnel Sans Bold"/>
                <a:ea typeface="Funnel Sans Bold"/>
                <a:cs typeface="Funnel Sans Bold"/>
              </a:rPr>
              <a:t>Nginx</a:t>
            </a:r>
            <a:r>
              <a:rPr lang="en-US" sz="1200">
                <a:solidFill>
                  <a:srgbClr val="52586B"/>
                </a:solidFill>
                <a:latin typeface="Funnel Sans"/>
                <a:ea typeface="Funnel Sans"/>
                <a:cs typeface="Funnel Sans"/>
              </a:rPr>
              <a:t> — Static file server + reverse proxy to Spring Boot API</a:t>
            </a:r>
            <a:endParaRPr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0981500" name="Text 0"/>
          <p:cNvSpPr/>
          <p:nvPr/>
        </p:nvSpPr>
        <p:spPr bwMode="auto">
          <a:xfrm>
            <a:off x="496118" y="212397"/>
            <a:ext cx="1344229" cy="194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600" b="1">
                <a:solidFill>
                  <a:srgbClr val="373B48"/>
                </a:solidFill>
                <a:latin typeface="Mona Sans SemiBold"/>
                <a:ea typeface="Mona Sans SemiBold"/>
                <a:cs typeface="Mona Sans SemiBold"/>
              </a:rPr>
              <a:t>Core </a:t>
            </a:r>
            <a:r>
              <a:rPr lang="en-US" sz="1600" b="1">
                <a:solidFill>
                  <a:srgbClr val="373B48"/>
                </a:solidFill>
                <a:latin typeface="Mona Sans SemiBold"/>
                <a:ea typeface="Mona Sans SemiBold"/>
                <a:cs typeface="Mona Sans SemiBold"/>
              </a:rPr>
              <a:t>Modules</a:t>
            </a:r>
            <a:endParaRPr sz="1600" b="1"/>
          </a:p>
        </p:txBody>
      </p:sp>
      <p:pic>
        <p:nvPicPr>
          <p:cNvPr id="1316881766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856524" y="809087"/>
            <a:ext cx="7577476" cy="4262330"/>
          </a:xfrm>
          <a:prstGeom prst="rect">
            <a:avLst/>
          </a:prstGeom>
        </p:spPr>
      </p:pic>
      <p:sp>
        <p:nvSpPr>
          <p:cNvPr id="1596882929" name="Text 1"/>
          <p:cNvSpPr/>
          <p:nvPr/>
        </p:nvSpPr>
        <p:spPr bwMode="auto">
          <a:xfrm flipH="0" flipV="0">
            <a:off x="547605" y="483836"/>
            <a:ext cx="7588576" cy="957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defRPr/>
            </a:pPr>
            <a:r>
              <a:rPr lang="en-US" sz="1400">
                <a:solidFill>
                  <a:srgbClr val="52586B"/>
                </a:solidFill>
                <a:latin typeface="Funnel Sans"/>
                <a:ea typeface="Funnel Sans"/>
                <a:cs typeface="Funnel Sans"/>
              </a:rPr>
              <a:t>FastX is organized into four tightly integrated modules, each responsible for a </a:t>
            </a:r>
            <a:r>
              <a:rPr lang="en-US" sz="1400">
                <a:solidFill>
                  <a:srgbClr val="52586B"/>
                </a:solidFill>
                <a:latin typeface="Funnel Sans"/>
                <a:ea typeface="Funnel Sans"/>
                <a:cs typeface="Funnel Sans"/>
              </a:rPr>
              <a:t>critical </a:t>
            </a:r>
            <a:r>
              <a:rPr lang="en-US" sz="1400">
                <a:solidFill>
                  <a:srgbClr val="52586B"/>
                </a:solidFill>
                <a:latin typeface="Funnel Sans"/>
                <a:ea typeface="Funnel Sans"/>
                <a:cs typeface="Funnel Sans"/>
              </a:rPr>
              <a:t>domain of the booking lifecycle. The backend coordinates all module interactions through a unified Spring Boot API layer.</a:t>
            </a:r>
            <a:endParaRPr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2976318" name="Text 0"/>
          <p:cNvSpPr/>
          <p:nvPr/>
        </p:nvSpPr>
        <p:spPr bwMode="auto">
          <a:xfrm>
            <a:off x="431760" y="471676"/>
            <a:ext cx="2354872" cy="387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400" b="1">
                <a:solidFill>
                  <a:srgbClr val="373B48"/>
                </a:solidFill>
                <a:latin typeface="Mona Sans SemiBold"/>
                <a:ea typeface="Mona Sans SemiBold"/>
                <a:cs typeface="Mona Sans SemiBold"/>
              </a:rPr>
              <a:t>Module &amp; Pages</a:t>
            </a:r>
            <a:endParaRPr sz="2400" b="1"/>
          </a:p>
        </p:txBody>
      </p:sp>
      <p:sp>
        <p:nvSpPr>
          <p:cNvPr id="1198508488" name="Text 1"/>
          <p:cNvSpPr/>
          <p:nvPr/>
        </p:nvSpPr>
        <p:spPr bwMode="auto">
          <a:xfrm flipH="0" flipV="0">
            <a:off x="1049598" y="1052658"/>
            <a:ext cx="6844791" cy="198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400">
                <a:solidFill>
                  <a:srgbClr val="52586B"/>
                </a:solidFill>
                <a:latin typeface="Funnel Sans"/>
                <a:ea typeface="Funnel Sans"/>
                <a:cs typeface="Funnel Sans"/>
              </a:rPr>
              <a:t>FastX provides a tailored experience for each role, with dedicated pages and dashboards designed for clarity and efficiency.</a:t>
            </a:r>
            <a:endParaRPr sz="1400"/>
          </a:p>
        </p:txBody>
      </p:sp>
      <p:pic>
        <p:nvPicPr>
          <p:cNvPr id="1791683195" name="Image 0" descr="preencoded.png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>
            <a:off x="496119" y="1702668"/>
            <a:ext cx="372070" cy="372070"/>
          </a:xfrm>
          <a:prstGeom prst="rect">
            <a:avLst/>
          </a:prstGeom>
        </p:spPr>
      </p:pic>
      <p:sp>
        <p:nvSpPr>
          <p:cNvPr id="1654312930" name="Text 2"/>
          <p:cNvSpPr/>
          <p:nvPr/>
        </p:nvSpPr>
        <p:spPr bwMode="auto">
          <a:xfrm>
            <a:off x="496118" y="2229742"/>
            <a:ext cx="1491072" cy="194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52586B"/>
                </a:solidFill>
                <a:latin typeface="Mona Sans SemiBold"/>
                <a:ea typeface="Mona Sans SemiBold"/>
                <a:cs typeface="Mona Sans SemiBold"/>
              </a:rPr>
              <a:t>Public &amp; Auth Pages</a:t>
            </a:r>
            <a:endParaRPr sz="1200" b="1"/>
          </a:p>
        </p:txBody>
      </p:sp>
      <p:sp>
        <p:nvSpPr>
          <p:cNvPr id="11031953" name="Text 3"/>
          <p:cNvSpPr/>
          <p:nvPr/>
        </p:nvSpPr>
        <p:spPr bwMode="auto">
          <a:xfrm>
            <a:off x="496119" y="2498006"/>
            <a:ext cx="2613868" cy="1717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33000"/>
              </a:lnSpc>
              <a:buSzPct val="100000"/>
              <a:buChar char="•"/>
              <a:defRPr/>
            </a:pPr>
            <a:r>
              <a:rPr lang="en-US" sz="950" b="1">
                <a:solidFill>
                  <a:srgbClr val="52586B"/>
                </a:solidFill>
                <a:latin typeface="Funnel Sans Bold"/>
                <a:ea typeface="Funnel Sans Bold"/>
                <a:cs typeface="Funnel Sans Bold"/>
              </a:rPr>
              <a:t>Landing Page</a:t>
            </a:r>
            <a:r>
              <a:rPr lang="en-US" sz="950">
                <a:solidFill>
                  <a:srgbClr val="52586B"/>
                </a:solidFill>
                <a:latin typeface="Funnel Sans"/>
                <a:ea typeface="Funnel Sans"/>
                <a:cs typeface="Funnel Sans"/>
              </a:rPr>
              <a:t> — Interactive search with autocomplete and carousel</a:t>
            </a:r>
            <a:endParaRPr lang="en-US" sz="950"/>
          </a:p>
          <a:p>
            <a:pPr marL="193040" indent="-193040" algn="l">
              <a:lnSpc>
                <a:spcPct val="133000"/>
              </a:lnSpc>
              <a:buSzPct val="100000"/>
              <a:buChar char="•"/>
              <a:defRPr/>
            </a:pPr>
            <a:r>
              <a:rPr lang="en-US" sz="950" b="1">
                <a:solidFill>
                  <a:srgbClr val="52586B"/>
                </a:solidFill>
                <a:latin typeface="Funnel Sans Bold"/>
                <a:ea typeface="Funnel Sans Bold"/>
                <a:cs typeface="Funnel Sans Bold"/>
              </a:rPr>
              <a:t>Search Results</a:t>
            </a:r>
            <a:r>
              <a:rPr lang="en-US" sz="950">
                <a:solidFill>
                  <a:srgbClr val="52586B"/>
                </a:solidFill>
                <a:latin typeface="Funnel Sans"/>
                <a:ea typeface="Funnel Sans"/>
                <a:cs typeface="Funnel Sans"/>
              </a:rPr>
              <a:t> — Filterable by bus type and departure time</a:t>
            </a:r>
            <a:endParaRPr lang="en-US" sz="950"/>
          </a:p>
          <a:p>
            <a:pPr marL="193040" indent="-193040" algn="l">
              <a:lnSpc>
                <a:spcPct val="133000"/>
              </a:lnSpc>
              <a:buSzPct val="100000"/>
              <a:buChar char="•"/>
              <a:defRPr/>
            </a:pPr>
            <a:r>
              <a:rPr lang="en-US" sz="950" b="1">
                <a:solidFill>
                  <a:srgbClr val="52586B"/>
                </a:solidFill>
                <a:latin typeface="Funnel Sans Bold"/>
                <a:ea typeface="Funnel Sans Bold"/>
                <a:cs typeface="Funnel Sans Bold"/>
              </a:rPr>
              <a:t>Login / Sign-Up</a:t>
            </a:r>
            <a:r>
              <a:rPr lang="en-US" sz="950">
                <a:solidFill>
                  <a:srgbClr val="52586B"/>
                </a:solidFill>
                <a:latin typeface="Funnel Sans"/>
                <a:ea typeface="Funnel Sans"/>
                <a:cs typeface="Funnel Sans"/>
              </a:rPr>
              <a:t> — Local credentials or Google OAuth 2.0</a:t>
            </a:r>
            <a:endParaRPr lang="en-US" sz="950"/>
          </a:p>
          <a:p>
            <a:pPr marL="193040" indent="-193040" algn="l">
              <a:lnSpc>
                <a:spcPct val="133000"/>
              </a:lnSpc>
              <a:buSzPct val="100000"/>
              <a:buChar char="•"/>
              <a:defRPr/>
            </a:pPr>
            <a:r>
              <a:rPr lang="en-US" sz="950" b="1">
                <a:solidFill>
                  <a:srgbClr val="52586B"/>
                </a:solidFill>
                <a:latin typeface="Funnel Sans Bold"/>
                <a:ea typeface="Funnel Sans Bold"/>
                <a:cs typeface="Funnel Sans Bold"/>
              </a:rPr>
              <a:t>Password Reset</a:t>
            </a:r>
            <a:r>
              <a:rPr lang="en-US" sz="950">
                <a:solidFill>
                  <a:srgbClr val="52586B"/>
                </a:solidFill>
                <a:latin typeface="Funnel Sans"/>
                <a:ea typeface="Funnel Sans"/>
                <a:cs typeface="Funnel Sans"/>
              </a:rPr>
              <a:t> — Token-based recovery via email</a:t>
            </a:r>
            <a:endParaRPr lang="en-US" sz="950"/>
          </a:p>
        </p:txBody>
      </p:sp>
      <p:pic>
        <p:nvPicPr>
          <p:cNvPr id="2011277996" name="Image 1" descr="preencoded.png"/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 bwMode="auto">
          <a:xfrm>
            <a:off x="3264991" y="1702668"/>
            <a:ext cx="372070" cy="372070"/>
          </a:xfrm>
          <a:prstGeom prst="rect">
            <a:avLst/>
          </a:prstGeom>
        </p:spPr>
      </p:pic>
      <p:sp>
        <p:nvSpPr>
          <p:cNvPr id="1291886818" name="Text 4"/>
          <p:cNvSpPr/>
          <p:nvPr/>
        </p:nvSpPr>
        <p:spPr bwMode="auto">
          <a:xfrm>
            <a:off x="3264990" y="2229742"/>
            <a:ext cx="1609986" cy="194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52586B"/>
                </a:solidFill>
                <a:latin typeface="Mona Sans SemiBold"/>
                <a:ea typeface="Mona Sans SemiBold"/>
                <a:cs typeface="Mona Sans SemiBold"/>
              </a:rPr>
              <a:t>Passenger Dashboard</a:t>
            </a:r>
            <a:endParaRPr sz="1200" b="1"/>
          </a:p>
        </p:txBody>
      </p:sp>
      <p:sp>
        <p:nvSpPr>
          <p:cNvPr id="804018676" name="Text 5"/>
          <p:cNvSpPr/>
          <p:nvPr/>
        </p:nvSpPr>
        <p:spPr bwMode="auto">
          <a:xfrm>
            <a:off x="3264991" y="2498006"/>
            <a:ext cx="2613942" cy="1717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33000"/>
              </a:lnSpc>
              <a:buSzPct val="100000"/>
              <a:buChar char="•"/>
              <a:defRPr/>
            </a:pPr>
            <a:r>
              <a:rPr lang="en-US" sz="950" b="1">
                <a:solidFill>
                  <a:srgbClr val="52586B"/>
                </a:solidFill>
                <a:latin typeface="Funnel Sans Bold"/>
                <a:ea typeface="Funnel Sans Bold"/>
                <a:cs typeface="Funnel Sans Bold"/>
              </a:rPr>
              <a:t>Overview</a:t>
            </a:r>
            <a:r>
              <a:rPr lang="en-US" sz="950">
                <a:solidFill>
                  <a:srgbClr val="52586B"/>
                </a:solidFill>
                <a:latin typeface="Funnel Sans"/>
                <a:ea typeface="Funnel Sans"/>
                <a:cs typeface="Funnel Sans"/>
              </a:rPr>
              <a:t> — Booking history, upcoming journeys, quick stats</a:t>
            </a:r>
            <a:endParaRPr lang="en-US" sz="950"/>
          </a:p>
          <a:p>
            <a:pPr marL="193040" indent="-193040" algn="l">
              <a:lnSpc>
                <a:spcPct val="133000"/>
              </a:lnSpc>
              <a:buSzPct val="100000"/>
              <a:buChar char="•"/>
              <a:defRPr/>
            </a:pPr>
            <a:r>
              <a:rPr lang="en-US" sz="950" b="1">
                <a:solidFill>
                  <a:srgbClr val="52586B"/>
                </a:solidFill>
                <a:latin typeface="Funnel Sans Bold"/>
                <a:ea typeface="Funnel Sans Bold"/>
                <a:cs typeface="Funnel Sans Bold"/>
              </a:rPr>
              <a:t>Profile</a:t>
            </a:r>
            <a:r>
              <a:rPr lang="en-US" sz="950">
                <a:solidFill>
                  <a:srgbClr val="52586B"/>
                </a:solidFill>
                <a:latin typeface="Funnel Sans"/>
                <a:ea typeface="Funnel Sans"/>
                <a:cs typeface="Funnel Sans"/>
              </a:rPr>
              <a:t> — Update name, phone, address, gender</a:t>
            </a:r>
            <a:endParaRPr lang="en-US" sz="950"/>
          </a:p>
          <a:p>
            <a:pPr marL="193040" indent="-193040" algn="l">
              <a:lnSpc>
                <a:spcPct val="133000"/>
              </a:lnSpc>
              <a:buSzPct val="100000"/>
              <a:buChar char="•"/>
              <a:defRPr/>
            </a:pPr>
            <a:r>
              <a:rPr lang="en-US" sz="950" b="1">
                <a:solidFill>
                  <a:srgbClr val="52586B"/>
                </a:solidFill>
                <a:latin typeface="Funnel Sans Bold"/>
                <a:ea typeface="Funnel Sans Bold"/>
                <a:cs typeface="Funnel Sans Bold"/>
              </a:rPr>
              <a:t>Ticket Details</a:t>
            </a:r>
            <a:r>
              <a:rPr lang="en-US" sz="950">
                <a:solidFill>
                  <a:srgbClr val="52586B"/>
                </a:solidFill>
                <a:latin typeface="Funnel Sans"/>
                <a:ea typeface="Funnel Sans"/>
                <a:cs typeface="Funnel Sans"/>
              </a:rPr>
              <a:t> — PDF download, cancellation requests</a:t>
            </a:r>
            <a:endParaRPr lang="en-US" sz="950"/>
          </a:p>
          <a:p>
            <a:pPr marL="193040" indent="-193040" algn="l">
              <a:lnSpc>
                <a:spcPct val="133000"/>
              </a:lnSpc>
              <a:buSzPct val="100000"/>
              <a:buChar char="•"/>
              <a:defRPr/>
            </a:pPr>
            <a:r>
              <a:rPr lang="en-US" sz="950" b="1">
                <a:solidFill>
                  <a:srgbClr val="52586B"/>
                </a:solidFill>
                <a:latin typeface="Funnel Sans Bold"/>
                <a:ea typeface="Funnel Sans Bold"/>
                <a:cs typeface="Funnel Sans Bold"/>
              </a:rPr>
              <a:t>Payment</a:t>
            </a:r>
            <a:r>
              <a:rPr lang="en-US" sz="950">
                <a:solidFill>
                  <a:srgbClr val="52586B"/>
                </a:solidFill>
                <a:latin typeface="Funnel Sans"/>
                <a:ea typeface="Funnel Sans"/>
                <a:cs typeface="Funnel Sans"/>
              </a:rPr>
              <a:t> — Checkout with countdown timer synced to seat lock</a:t>
            </a:r>
            <a:endParaRPr lang="en-US" sz="950"/>
          </a:p>
        </p:txBody>
      </p:sp>
      <p:pic>
        <p:nvPicPr>
          <p:cNvPr id="773806705" name="Image 2" descr="preencoded.png"/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 bwMode="auto">
          <a:xfrm>
            <a:off x="6033939" y="1702668"/>
            <a:ext cx="372070" cy="372070"/>
          </a:xfrm>
          <a:prstGeom prst="rect">
            <a:avLst/>
          </a:prstGeom>
        </p:spPr>
      </p:pic>
      <p:sp>
        <p:nvSpPr>
          <p:cNvPr id="1523612753" name="Text 6"/>
          <p:cNvSpPr/>
          <p:nvPr/>
        </p:nvSpPr>
        <p:spPr bwMode="auto">
          <a:xfrm>
            <a:off x="6033938" y="2229742"/>
            <a:ext cx="2236248" cy="194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200" b="1">
                <a:solidFill>
                  <a:srgbClr val="52586B"/>
                </a:solidFill>
                <a:latin typeface="Mona Sans SemiBold"/>
                <a:ea typeface="Mona Sans SemiBold"/>
                <a:cs typeface="Mona Sans SemiBold"/>
              </a:rPr>
              <a:t>Operator &amp; Admin Dashboards</a:t>
            </a:r>
            <a:endParaRPr sz="1200" b="1"/>
          </a:p>
        </p:txBody>
      </p:sp>
      <p:sp>
        <p:nvSpPr>
          <p:cNvPr id="1519598549" name="Text 7"/>
          <p:cNvSpPr/>
          <p:nvPr/>
        </p:nvSpPr>
        <p:spPr bwMode="auto">
          <a:xfrm>
            <a:off x="6033939" y="2498006"/>
            <a:ext cx="2613942" cy="1916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33000"/>
              </a:lnSpc>
              <a:buSzPct val="100000"/>
              <a:buChar char="•"/>
              <a:defRPr/>
            </a:pPr>
            <a:r>
              <a:rPr lang="en-US" sz="950" b="1">
                <a:solidFill>
                  <a:srgbClr val="52586B"/>
                </a:solidFill>
                <a:latin typeface="Funnel Sans Bold"/>
                <a:ea typeface="Funnel Sans Bold"/>
                <a:cs typeface="Funnel Sans Bold"/>
              </a:rPr>
              <a:t>Operator Overview</a:t>
            </a:r>
            <a:r>
              <a:rPr lang="en-US" sz="950">
                <a:solidFill>
                  <a:srgbClr val="52586B"/>
                </a:solidFill>
                <a:latin typeface="Funnel Sans"/>
                <a:ea typeface="Funnel Sans"/>
                <a:cs typeface="Funnel Sans"/>
              </a:rPr>
              <a:t> — Daily bookings, active buses, revenue</a:t>
            </a:r>
            <a:endParaRPr lang="en-US" sz="950"/>
          </a:p>
          <a:p>
            <a:pPr marL="193040" indent="-193040" algn="l">
              <a:lnSpc>
                <a:spcPct val="133000"/>
              </a:lnSpc>
              <a:buSzPct val="100000"/>
              <a:buChar char="•"/>
              <a:defRPr/>
            </a:pPr>
            <a:r>
              <a:rPr lang="en-US" sz="950" b="1">
                <a:solidFill>
                  <a:srgbClr val="52586B"/>
                </a:solidFill>
                <a:latin typeface="Funnel Sans Bold"/>
                <a:ea typeface="Funnel Sans Bold"/>
                <a:cs typeface="Funnel Sans Bold"/>
              </a:rPr>
              <a:t>My Buses (CRUD)</a:t>
            </a:r>
            <a:r>
              <a:rPr lang="en-US" sz="950">
                <a:solidFill>
                  <a:srgbClr val="52586B"/>
                </a:solidFill>
                <a:latin typeface="Funnel Sans"/>
                <a:ea typeface="Funnel Sans"/>
                <a:cs typeface="Funnel Sans"/>
              </a:rPr>
              <a:t> — Add/edit trips, fares, schedules</a:t>
            </a:r>
            <a:endParaRPr lang="en-US" sz="950"/>
          </a:p>
          <a:p>
            <a:pPr marL="193040" indent="-193040" algn="l">
              <a:lnSpc>
                <a:spcPct val="133000"/>
              </a:lnSpc>
              <a:buSzPct val="100000"/>
              <a:buChar char="•"/>
              <a:defRPr/>
            </a:pPr>
            <a:r>
              <a:rPr lang="en-US" sz="950" b="1">
                <a:solidFill>
                  <a:srgbClr val="52586B"/>
                </a:solidFill>
                <a:latin typeface="Funnel Sans Bold"/>
                <a:ea typeface="Funnel Sans Bold"/>
                <a:cs typeface="Funnel Sans Bold"/>
              </a:rPr>
              <a:t>Refund Approvals</a:t>
            </a:r>
            <a:r>
              <a:rPr lang="en-US" sz="950">
                <a:solidFill>
                  <a:srgbClr val="52586B"/>
                </a:solidFill>
                <a:latin typeface="Funnel Sans"/>
                <a:ea typeface="Funnel Sans"/>
                <a:cs typeface="Funnel Sans"/>
              </a:rPr>
              <a:t> — Approve (triggers Razorpay) or reject</a:t>
            </a:r>
            <a:endParaRPr lang="en-US" sz="950"/>
          </a:p>
          <a:p>
            <a:pPr marL="193040" indent="-193040" algn="l">
              <a:lnSpc>
                <a:spcPct val="133000"/>
              </a:lnSpc>
              <a:buSzPct val="100000"/>
              <a:buChar char="•"/>
              <a:defRPr/>
            </a:pPr>
            <a:r>
              <a:rPr lang="en-US" sz="950" b="1">
                <a:solidFill>
                  <a:srgbClr val="52586B"/>
                </a:solidFill>
                <a:latin typeface="Funnel Sans Bold"/>
                <a:ea typeface="Funnel Sans Bold"/>
                <a:cs typeface="Funnel Sans Bold"/>
              </a:rPr>
              <a:t>Admin Console</a:t>
            </a:r>
            <a:r>
              <a:rPr lang="en-US" sz="950">
                <a:solidFill>
                  <a:srgbClr val="52586B"/>
                </a:solidFill>
                <a:latin typeface="Funnel Sans"/>
                <a:ea typeface="Funnel Sans"/>
                <a:cs typeface="Funnel Sans"/>
              </a:rPr>
              <a:t> — Platform metrics, operator verification, user management, global refund audit</a:t>
            </a:r>
            <a:endParaRPr lang="en-US" sz="9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0364818" name="Text 0"/>
          <p:cNvSpPr/>
          <p:nvPr/>
        </p:nvSpPr>
        <p:spPr bwMode="auto">
          <a:xfrm>
            <a:off x="303043" y="278601"/>
            <a:ext cx="2677529" cy="393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400" b="1">
                <a:solidFill>
                  <a:srgbClr val="373B48"/>
                </a:solidFill>
                <a:latin typeface="Mona Sans SemiBold"/>
                <a:ea typeface="Mona Sans SemiBold"/>
                <a:cs typeface="Mona Sans SemiBold"/>
              </a:rPr>
              <a:t>Use Case Diagram</a:t>
            </a:r>
            <a:endParaRPr sz="2400" b="1"/>
          </a:p>
        </p:txBody>
      </p:sp>
      <p:pic>
        <p:nvPicPr>
          <p:cNvPr id="150330487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29156" y="826728"/>
            <a:ext cx="3432898" cy="4054560"/>
          </a:xfrm>
          <a:prstGeom prst="rect">
            <a:avLst/>
          </a:prstGeom>
        </p:spPr>
      </p:pic>
      <p:pic>
        <p:nvPicPr>
          <p:cNvPr id="431745640" name=""/>
          <p:cNvPicPr>
            <a:picLocks noChangeAspect="1"/>
          </p:cNvPicPr>
          <p:nvPr/>
        </p:nvPicPr>
        <p:blipFill rotWithShape="1">
          <a:blip r:embed="rId4"/>
          <a:srcRect l="1667" t="0" r="0" b="0"/>
          <a:stretch/>
        </p:blipFill>
        <p:spPr bwMode="auto">
          <a:xfrm flipH="0" flipV="0">
            <a:off x="3656858" y="573555"/>
            <a:ext cx="5435431" cy="4495717"/>
          </a:xfrm>
          <a:prstGeom prst="rect">
            <a:avLst/>
          </a:prstGeom>
        </p:spPr>
      </p:pic>
      <p:sp>
        <p:nvSpPr>
          <p:cNvPr id="582500067" name=""/>
          <p:cNvSpPr txBox="1"/>
          <p:nvPr/>
        </p:nvSpPr>
        <p:spPr bwMode="auto">
          <a:xfrm rot="0" flipH="0" flipV="0">
            <a:off x="3811418" y="295176"/>
            <a:ext cx="2193366" cy="377092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b="1">
                <a:solidFill>
                  <a:srgbClr val="373B48"/>
                </a:solidFill>
                <a:latin typeface="Mona Sans SemiBold"/>
                <a:ea typeface="Mona Sans SemiBold"/>
                <a:cs typeface="Mona Sans SemiBold"/>
              </a:rPr>
              <a:t>ER Diagram</a:t>
            </a:r>
            <a:endParaRPr sz="2400" b="1"/>
          </a:p>
        </p:txBody>
      </p:sp>
      <p:cxnSp>
        <p:nvCxnSpPr>
          <p:cNvPr id="308713274" name=""/>
          <p:cNvCxnSpPr/>
          <p:nvPr/>
        </p:nvCxnSpPr>
        <p:spPr bwMode="auto">
          <a:xfrm flipH="0" flipV="0">
            <a:off x="3554957" y="-77229"/>
            <a:ext cx="0" cy="5354594"/>
          </a:xfrm>
          <a:prstGeom prst="line">
            <a:avLst/>
          </a:prstGeom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8930290" name="Text 0"/>
          <p:cNvSpPr/>
          <p:nvPr/>
        </p:nvSpPr>
        <p:spPr bwMode="auto">
          <a:xfrm>
            <a:off x="303043" y="278601"/>
            <a:ext cx="2118385" cy="4001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400" b="1">
                <a:solidFill>
                  <a:srgbClr val="373B48"/>
                </a:solidFill>
                <a:latin typeface="Mona Sans SemiBold"/>
                <a:ea typeface="Mona Sans SemiBold"/>
                <a:cs typeface="Mona Sans SemiBold"/>
              </a:rPr>
              <a:t>Class Diagram</a:t>
            </a:r>
            <a:endParaRPr sz="2400" b="1"/>
          </a:p>
        </p:txBody>
      </p:sp>
      <p:pic>
        <p:nvPicPr>
          <p:cNvPr id="744813625" name=""/>
          <p:cNvPicPr>
            <a:picLocks noChangeAspect="1"/>
          </p:cNvPicPr>
          <p:nvPr/>
        </p:nvPicPr>
        <p:blipFill rotWithShape="1">
          <a:blip r:embed="rId3"/>
          <a:srcRect l="0" t="0" r="769" b="34401"/>
          <a:stretch/>
        </p:blipFill>
        <p:spPr bwMode="auto">
          <a:xfrm flipH="0" flipV="0">
            <a:off x="176043" y="777129"/>
            <a:ext cx="5873956" cy="4191744"/>
          </a:xfrm>
          <a:prstGeom prst="rect">
            <a:avLst/>
          </a:prstGeom>
        </p:spPr>
      </p:pic>
      <p:pic>
        <p:nvPicPr>
          <p:cNvPr id="432363625" name=""/>
          <p:cNvPicPr>
            <a:picLocks noChangeAspect="1"/>
          </p:cNvPicPr>
          <p:nvPr/>
        </p:nvPicPr>
        <p:blipFill rotWithShape="1">
          <a:blip r:embed="rId3"/>
          <a:srcRect l="2173" t="72783" r="55629" b="3950"/>
          <a:stretch/>
        </p:blipFill>
        <p:spPr bwMode="auto">
          <a:xfrm flipH="0" flipV="0">
            <a:off x="6161124" y="793749"/>
            <a:ext cx="2827245" cy="1682749"/>
          </a:xfrm>
          <a:prstGeom prst="rect">
            <a:avLst/>
          </a:prstGeom>
        </p:spPr>
      </p:pic>
      <p:pic>
        <p:nvPicPr>
          <p:cNvPr id="1911240043" name=""/>
          <p:cNvPicPr>
            <a:picLocks noChangeAspect="1"/>
          </p:cNvPicPr>
          <p:nvPr/>
        </p:nvPicPr>
        <p:blipFill rotWithShape="1">
          <a:blip r:embed="rId3"/>
          <a:srcRect l="43037" t="67592" r="29975" b="0"/>
          <a:stretch/>
        </p:blipFill>
        <p:spPr bwMode="auto">
          <a:xfrm flipH="0" flipV="0">
            <a:off x="6478624" y="2461212"/>
            <a:ext cx="1873249" cy="24282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3971762" name="Text 0"/>
          <p:cNvSpPr/>
          <p:nvPr/>
        </p:nvSpPr>
        <p:spPr bwMode="auto">
          <a:xfrm>
            <a:off x="303043" y="278601"/>
            <a:ext cx="3032036" cy="421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400" b="1">
                <a:solidFill>
                  <a:srgbClr val="373B48"/>
                </a:solidFill>
                <a:latin typeface="Mona Sans SemiBold"/>
                <a:ea typeface="Mona Sans SemiBold"/>
                <a:cs typeface="Mona Sans SemiBold"/>
              </a:rPr>
              <a:t>Output Screen Shots</a:t>
            </a:r>
            <a:endParaRPr sz="2400" b="1"/>
          </a:p>
        </p:txBody>
      </p:sp>
      <p:pic>
        <p:nvPicPr>
          <p:cNvPr id="88823976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903110" y="779724"/>
            <a:ext cx="7337777" cy="41274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3779515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904874" y="571500"/>
            <a:ext cx="7281333" cy="40957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4984737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174749" y="627062"/>
            <a:ext cx="6914444" cy="38893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9745265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888999" y="490675"/>
            <a:ext cx="7399374" cy="41621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899864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82624" y="380999"/>
            <a:ext cx="7732749" cy="43496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2366519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42124" y="349249"/>
            <a:ext cx="7954999" cy="44746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0680655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523874" y="338870"/>
            <a:ext cx="7939124" cy="44657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0599499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26249" y="269874"/>
            <a:ext cx="7891499" cy="44389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5850831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02437" y="285750"/>
            <a:ext cx="7939125" cy="44657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048010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586562" y="317499"/>
            <a:ext cx="7970874" cy="4483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4362332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97687" y="460374"/>
            <a:ext cx="7748624" cy="43586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4647486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75437" y="174624"/>
            <a:ext cx="8193124" cy="46086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2292290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862366" y="587374"/>
            <a:ext cx="3600133" cy="4236137"/>
          </a:xfrm>
          <a:prstGeom prst="rect">
            <a:avLst/>
          </a:prstGeom>
        </p:spPr>
      </p:pic>
      <p:pic>
        <p:nvPicPr>
          <p:cNvPr id="334653908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4926366" y="397642"/>
            <a:ext cx="3695383" cy="43482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0569219" name=""/>
          <p:cNvSpPr txBox="1"/>
          <p:nvPr/>
        </p:nvSpPr>
        <p:spPr bwMode="auto">
          <a:xfrm rot="0" flipH="0" flipV="0">
            <a:off x="720332" y="1349374"/>
            <a:ext cx="7544944" cy="22863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7200" b="1" i="1">
                <a:latin typeface="JetBrainsMono NFP ExtraBold"/>
                <a:ea typeface="JetBrainsMono NFP ExtraBold"/>
                <a:cs typeface="JetBrainsMono NFP ExtraBold"/>
              </a:rPr>
              <a:t>THANK </a:t>
            </a:r>
            <a:endParaRPr sz="7200" b="1" i="1">
              <a:latin typeface="JetBrainsMono NFP ExtraBold"/>
              <a:ea typeface="JetBrainsMono NFP ExtraBold"/>
              <a:cs typeface="JetBrainsMono NFP ExtraBold"/>
            </a:endParaRPr>
          </a:p>
          <a:p>
            <a:pPr algn="ctr">
              <a:defRPr/>
            </a:pPr>
            <a:r>
              <a:rPr sz="7200" b="1" i="1">
                <a:latin typeface="JetBrainsMono NFP ExtraBold"/>
                <a:ea typeface="JetBrainsMono NFP ExtraBold"/>
                <a:cs typeface="JetBrainsMono NFP ExtraBold"/>
              </a:rPr>
              <a:t>YOU!!!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21</Slides>
  <Notes>21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2</cp:revision>
  <dcterms:created xsi:type="dcterms:W3CDTF">2026-07-09T20:41:04Z</dcterms:created>
  <dcterms:modified xsi:type="dcterms:W3CDTF">2026-07-09T21:32:13Z</dcterms:modified>
</cp:coreProperties>
</file>