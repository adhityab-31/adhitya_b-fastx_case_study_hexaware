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1590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92177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37715533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929416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869228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1714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999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281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7962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71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957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806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162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681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476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021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5281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928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91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6510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3778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799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869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9355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49E5BB-844B-5F44-9E27-D8CA5A71E030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45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8035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8209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37274-00A3-FB69-355A-9613D68A34FD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580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7960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5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985754-2AE5-C754-8340-EE5A036862D0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805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440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9946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299843-13C3-962F-ED68-7EDE856FFBB8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397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9836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0667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2A0BC2-F79B-1070-EFBE-362190BAB1DA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590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780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815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59B7F1-E959-2802-ED3B-2D3429B8D2CB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581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659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1463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E585C3-3FCB-7880-DBB9-A467023FD33B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935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642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004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2020B0-4F60-CED9-03B9-1896EADADC88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260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5594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239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45257D-708D-86CF-9CCD-E59521B9C1E7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772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6083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1880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1F3CB5-2E33-B41A-3BBC-9FD7BB7C3763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051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880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30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C3F101-98A3-1976-5E22-FD5F5BB406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515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093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786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57404F-8E2A-ADE5-24F9-A21B671C6D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96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5380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710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DAA98D-521C-35B6-7DAA-7FED94B37C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173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134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222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578BC-8D09-CD57-4728-6A5DA67E3D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32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2023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160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CFD6D1-AE03-ADBA-0FCF-D5A2FC3006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16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1338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460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226EAC-49BD-A845-2E6E-44F2E2D03A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8301666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7042269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758462901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media1.sv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media2.svg"/><Relationship Id="rId5" Type="http://schemas.openxmlformats.org/officeDocument/2006/relationships/image" Target="../media/image7.png"/><Relationship Id="rId6" Type="http://schemas.openxmlformats.org/officeDocument/2006/relationships/image" Target="../media/media3.svg"/><Relationship Id="rId7" Type="http://schemas.openxmlformats.org/officeDocument/2006/relationships/image" Target="../media/image8.png"/><Relationship Id="rId8" Type="http://schemas.openxmlformats.org/officeDocument/2006/relationships/image" Target="../media/media4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342397" name="Text 4"/>
          <p:cNvSpPr/>
          <p:nvPr/>
        </p:nvSpPr>
        <p:spPr bwMode="auto">
          <a:xfrm flipH="0" flipV="0">
            <a:off x="875734" y="1398087"/>
            <a:ext cx="1421282" cy="54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00">
                <a:solidFill>
                  <a:srgbClr val="373B48"/>
                </a:solidFill>
                <a:latin typeface="Impact"/>
                <a:ea typeface="Impact"/>
                <a:cs typeface="Impact"/>
              </a:rPr>
              <a:t>FastX</a:t>
            </a:r>
            <a:endParaRPr sz="3600">
              <a:latin typeface="Impact"/>
              <a:cs typeface="Impact"/>
            </a:endParaRPr>
          </a:p>
        </p:txBody>
      </p:sp>
      <p:sp>
        <p:nvSpPr>
          <p:cNvPr id="54092879" name="Text 5"/>
          <p:cNvSpPr/>
          <p:nvPr/>
        </p:nvSpPr>
        <p:spPr bwMode="auto">
          <a:xfrm flipH="0" flipV="0">
            <a:off x="1256607" y="1940213"/>
            <a:ext cx="8129184" cy="788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00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Online Bus Ticket Booking System</a:t>
            </a:r>
            <a:endParaRPr sz="3600"/>
          </a:p>
        </p:txBody>
      </p:sp>
      <p:pic>
        <p:nvPicPr>
          <p:cNvPr id="400947145" name="Image 1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80323" y="3298987"/>
            <a:ext cx="2634630" cy="743248"/>
          </a:xfrm>
          <a:prstGeom prst="rect">
            <a:avLst/>
          </a:prstGeom>
        </p:spPr>
      </p:pic>
      <p:sp>
        <p:nvSpPr>
          <p:cNvPr id="299186646" name="Text 9"/>
          <p:cNvSpPr/>
          <p:nvPr/>
        </p:nvSpPr>
        <p:spPr bwMode="auto">
          <a:xfrm>
            <a:off x="811376" y="3372891"/>
            <a:ext cx="860454" cy="19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Developer</a:t>
            </a:r>
            <a:endParaRPr sz="1400" b="1"/>
          </a:p>
        </p:txBody>
      </p:sp>
      <p:sp>
        <p:nvSpPr>
          <p:cNvPr id="1177400688" name="Text 10"/>
          <p:cNvSpPr/>
          <p:nvPr/>
        </p:nvSpPr>
        <p:spPr bwMode="auto">
          <a:xfrm>
            <a:off x="1519315" y="3641153"/>
            <a:ext cx="1087902" cy="19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0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Adhitya B</a:t>
            </a:r>
            <a:endParaRPr sz="2000"/>
          </a:p>
        </p:txBody>
      </p:sp>
      <p:pic>
        <p:nvPicPr>
          <p:cNvPr id="20546050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55819" y="3298987"/>
            <a:ext cx="2634555" cy="743248"/>
          </a:xfrm>
          <a:prstGeom prst="rect">
            <a:avLst/>
          </a:prstGeom>
        </p:spPr>
      </p:pic>
      <p:sp>
        <p:nvSpPr>
          <p:cNvPr id="1680322006" name="Text 11"/>
          <p:cNvSpPr/>
          <p:nvPr/>
        </p:nvSpPr>
        <p:spPr bwMode="auto">
          <a:xfrm>
            <a:off x="5886872" y="3372891"/>
            <a:ext cx="603480" cy="19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Trainer</a:t>
            </a:r>
            <a:endParaRPr sz="1400" b="1"/>
          </a:p>
        </p:txBody>
      </p:sp>
      <p:sp>
        <p:nvSpPr>
          <p:cNvPr id="1671833554" name="Text 12"/>
          <p:cNvSpPr/>
          <p:nvPr/>
        </p:nvSpPr>
        <p:spPr bwMode="auto">
          <a:xfrm>
            <a:off x="6530452" y="3641152"/>
            <a:ext cx="1257070" cy="20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0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Mr. Javeed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28657" name="Text 0"/>
          <p:cNvSpPr/>
          <p:nvPr/>
        </p:nvSpPr>
        <p:spPr bwMode="auto">
          <a:xfrm>
            <a:off x="496118" y="597933"/>
            <a:ext cx="2474232" cy="38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Project Overview</a:t>
            </a:r>
            <a:endParaRPr sz="2400" b="1"/>
          </a:p>
        </p:txBody>
      </p:sp>
      <p:sp>
        <p:nvSpPr>
          <p:cNvPr id="1711381621" name="Text 1"/>
          <p:cNvSpPr/>
          <p:nvPr/>
        </p:nvSpPr>
        <p:spPr bwMode="auto">
          <a:xfrm flipH="0" flipV="0">
            <a:off x="894605" y="1091916"/>
            <a:ext cx="7331144" cy="86457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just">
              <a:lnSpc>
                <a:spcPct val="133000"/>
              </a:lnSpc>
              <a:buNone/>
              <a:defRPr/>
            </a:pP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FastX is a full-featured, role-based web platform that streamlines the entire bus travel lifecycle from search to seat selection, payment, and post-booking management. The system enforces strict access control across three distinct user roles.</a:t>
            </a:r>
            <a:endParaRPr sz="1200"/>
          </a:p>
        </p:txBody>
      </p:sp>
      <p:sp>
        <p:nvSpPr>
          <p:cNvPr id="2042088364" name="Shape 2"/>
          <p:cNvSpPr/>
          <p:nvPr/>
        </p:nvSpPr>
        <p:spPr bwMode="auto">
          <a:xfrm>
            <a:off x="431760" y="2156103"/>
            <a:ext cx="2634555" cy="1617165"/>
          </a:xfrm>
          <a:prstGeom prst="roundRect">
            <a:avLst>
              <a:gd name="adj" fmla="val 322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263212875" name="Shape 3"/>
          <p:cNvSpPr/>
          <p:nvPr/>
        </p:nvSpPr>
        <p:spPr bwMode="auto">
          <a:xfrm>
            <a:off x="560496" y="2284839"/>
            <a:ext cx="372070" cy="372070"/>
          </a:xfrm>
          <a:prstGeom prst="ellipse">
            <a:avLst/>
          </a:prstGeom>
          <a:solidFill>
            <a:srgbClr val="373B48"/>
          </a:solidFill>
          <a:ln/>
        </p:spPr>
      </p:sp>
      <p:sp>
        <p:nvSpPr>
          <p:cNvPr id="1672903575" name="Text 4"/>
          <p:cNvSpPr/>
          <p:nvPr/>
        </p:nvSpPr>
        <p:spPr bwMode="auto">
          <a:xfrm>
            <a:off x="662815" y="2366173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1</a:t>
            </a:r>
            <a:endParaRPr lang="en-US" sz="1300"/>
          </a:p>
        </p:txBody>
      </p:sp>
      <p:sp>
        <p:nvSpPr>
          <p:cNvPr id="701080442" name="Text 5"/>
          <p:cNvSpPr/>
          <p:nvPr/>
        </p:nvSpPr>
        <p:spPr bwMode="auto">
          <a:xfrm>
            <a:off x="560496" y="2780883"/>
            <a:ext cx="1254363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Passenger (User)</a:t>
            </a:r>
            <a:endParaRPr sz="1200" b="1"/>
          </a:p>
        </p:txBody>
      </p:sp>
      <p:sp>
        <p:nvSpPr>
          <p:cNvPr id="2074550141" name="Text 6"/>
          <p:cNvSpPr/>
          <p:nvPr/>
        </p:nvSpPr>
        <p:spPr bwMode="auto">
          <a:xfrm>
            <a:off x="560496" y="3049146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Searches buses, selects seats, books tickets, manages profile, and requests cancellations or refunds.</a:t>
            </a:r>
            <a:endParaRPr lang="en-US" sz="950"/>
          </a:p>
        </p:txBody>
      </p:sp>
      <p:sp>
        <p:nvSpPr>
          <p:cNvPr id="491586335" name="Shape 7"/>
          <p:cNvSpPr/>
          <p:nvPr/>
        </p:nvSpPr>
        <p:spPr bwMode="auto">
          <a:xfrm>
            <a:off x="3254647" y="3121475"/>
            <a:ext cx="2634630" cy="1617165"/>
          </a:xfrm>
          <a:prstGeom prst="roundRect">
            <a:avLst>
              <a:gd name="adj" fmla="val 322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784342275" name="Shape 8"/>
          <p:cNvSpPr/>
          <p:nvPr/>
        </p:nvSpPr>
        <p:spPr bwMode="auto">
          <a:xfrm>
            <a:off x="3383383" y="3250211"/>
            <a:ext cx="372070" cy="372070"/>
          </a:xfrm>
          <a:prstGeom prst="ellipse">
            <a:avLst/>
          </a:prstGeom>
          <a:solidFill>
            <a:srgbClr val="373B48"/>
          </a:solidFill>
          <a:ln/>
        </p:spPr>
      </p:sp>
      <p:sp>
        <p:nvSpPr>
          <p:cNvPr id="826624124" name="Text 9"/>
          <p:cNvSpPr/>
          <p:nvPr/>
        </p:nvSpPr>
        <p:spPr bwMode="auto">
          <a:xfrm>
            <a:off x="3485703" y="3331545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2</a:t>
            </a:r>
            <a:endParaRPr lang="en-US" sz="1300"/>
          </a:p>
        </p:txBody>
      </p:sp>
      <p:sp>
        <p:nvSpPr>
          <p:cNvPr id="1449984732" name="Text 10"/>
          <p:cNvSpPr/>
          <p:nvPr/>
        </p:nvSpPr>
        <p:spPr bwMode="auto">
          <a:xfrm>
            <a:off x="3383383" y="3746255"/>
            <a:ext cx="974567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Bus Operator</a:t>
            </a:r>
            <a:endParaRPr sz="1200" b="1"/>
          </a:p>
        </p:txBody>
      </p:sp>
      <p:sp>
        <p:nvSpPr>
          <p:cNvPr id="135453211" name="Text 11"/>
          <p:cNvSpPr/>
          <p:nvPr/>
        </p:nvSpPr>
        <p:spPr bwMode="auto">
          <a:xfrm>
            <a:off x="3383383" y="4014518"/>
            <a:ext cx="23771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Manages bus schedules, fares, passenger manifests, and approves or rejects refund requests.</a:t>
            </a:r>
            <a:endParaRPr lang="en-US" sz="950"/>
          </a:p>
        </p:txBody>
      </p:sp>
      <p:sp>
        <p:nvSpPr>
          <p:cNvPr id="2137767950" name="Shape 12"/>
          <p:cNvSpPr/>
          <p:nvPr/>
        </p:nvSpPr>
        <p:spPr bwMode="auto">
          <a:xfrm>
            <a:off x="6013251" y="2156103"/>
            <a:ext cx="2634555" cy="1617165"/>
          </a:xfrm>
          <a:prstGeom prst="roundRect">
            <a:avLst>
              <a:gd name="adj" fmla="val 322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71322229" name="Shape 13"/>
          <p:cNvSpPr/>
          <p:nvPr/>
        </p:nvSpPr>
        <p:spPr bwMode="auto">
          <a:xfrm>
            <a:off x="6141987" y="2284839"/>
            <a:ext cx="372070" cy="372070"/>
          </a:xfrm>
          <a:prstGeom prst="ellipse">
            <a:avLst/>
          </a:prstGeom>
          <a:solidFill>
            <a:srgbClr val="373B48"/>
          </a:solidFill>
          <a:ln/>
        </p:spPr>
      </p:sp>
      <p:sp>
        <p:nvSpPr>
          <p:cNvPr id="2094527732" name="Text 14"/>
          <p:cNvSpPr/>
          <p:nvPr/>
        </p:nvSpPr>
        <p:spPr bwMode="auto">
          <a:xfrm>
            <a:off x="6244306" y="2366173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3</a:t>
            </a:r>
            <a:endParaRPr lang="en-US" sz="1300"/>
          </a:p>
        </p:txBody>
      </p:sp>
      <p:sp>
        <p:nvSpPr>
          <p:cNvPr id="1760066005" name="Text 15"/>
          <p:cNvSpPr/>
          <p:nvPr/>
        </p:nvSpPr>
        <p:spPr bwMode="auto">
          <a:xfrm>
            <a:off x="6141987" y="2780883"/>
            <a:ext cx="1584388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System Administrator</a:t>
            </a:r>
            <a:endParaRPr sz="1200" b="1"/>
          </a:p>
        </p:txBody>
      </p:sp>
      <p:sp>
        <p:nvSpPr>
          <p:cNvPr id="2082811215" name="Text 16"/>
          <p:cNvSpPr/>
          <p:nvPr/>
        </p:nvSpPr>
        <p:spPr bwMode="auto">
          <a:xfrm>
            <a:off x="6141987" y="3049146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Oversees platform-wide metrics, verifies operators, manages user accounts, and audits all transactions.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764677" name="Text 0"/>
          <p:cNvSpPr/>
          <p:nvPr/>
        </p:nvSpPr>
        <p:spPr bwMode="auto">
          <a:xfrm>
            <a:off x="496118" y="388812"/>
            <a:ext cx="2256722" cy="37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35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Technical Stack</a:t>
            </a:r>
            <a:endParaRPr sz="2350" b="1"/>
          </a:p>
        </p:txBody>
      </p:sp>
      <p:sp>
        <p:nvSpPr>
          <p:cNvPr id="1121643226" name="Text 1"/>
          <p:cNvSpPr/>
          <p:nvPr/>
        </p:nvSpPr>
        <p:spPr bwMode="auto">
          <a:xfrm flipH="0" flipV="0">
            <a:off x="915196" y="764665"/>
            <a:ext cx="7099455" cy="70621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400">
                <a:solidFill>
                  <a:srgbClr val="52586B"/>
                </a:solidFill>
                <a:latin typeface="Times New Roman"/>
                <a:ea typeface="Times New Roman"/>
                <a:cs typeface="Times New Roman"/>
              </a:rPr>
              <a:t>FastX follows a decoupled three-tier architecture separating concerns across frontend, backend, database, and DevOps layers for scalability and maintainability.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14989255" name="Shape 2"/>
          <p:cNvSpPr/>
          <p:nvPr/>
        </p:nvSpPr>
        <p:spPr bwMode="auto">
          <a:xfrm>
            <a:off x="409575" y="1506438"/>
            <a:ext cx="4102373" cy="3248248"/>
          </a:xfrm>
          <a:prstGeom prst="roundRect">
            <a:avLst>
              <a:gd name="adj" fmla="val 2664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2134454158" name="Text 3"/>
          <p:cNvSpPr/>
          <p:nvPr/>
        </p:nvSpPr>
        <p:spPr bwMode="auto">
          <a:xfrm>
            <a:off x="529678" y="1751537"/>
            <a:ext cx="771035" cy="1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Frontend</a:t>
            </a:r>
            <a:endParaRPr sz="1400" b="1"/>
          </a:p>
        </p:txBody>
      </p:sp>
      <p:sp>
        <p:nvSpPr>
          <p:cNvPr id="2119726150" name="Text 4"/>
          <p:cNvSpPr/>
          <p:nvPr/>
        </p:nvSpPr>
        <p:spPr bwMode="auto">
          <a:xfrm flipH="0" flipV="0">
            <a:off x="529678" y="2059459"/>
            <a:ext cx="3862163" cy="269522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React.js + Vite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Fast HMR and optimized compilation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Bootstrap &amp; CSS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Custom premium components, responsive layouts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React Router DOM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Role-based private route guards, 404 handling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Context API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Global auth state and session management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Axios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JWT interceptor for automatic authorization headers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React Icons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Fa, Md, Io icon sets</a:t>
            </a:r>
            <a:endParaRPr sz="1100">
              <a:latin typeface="DejaVu Math TeX Gyre"/>
              <a:cs typeface="DejaVu Math TeX Gyre"/>
            </a:endParaRPr>
          </a:p>
        </p:txBody>
      </p:sp>
      <p:sp>
        <p:nvSpPr>
          <p:cNvPr id="1828458052" name="Text 5"/>
          <p:cNvSpPr/>
          <p:nvPr/>
        </p:nvSpPr>
        <p:spPr bwMode="auto">
          <a:xfrm>
            <a:off x="4723356" y="1429746"/>
            <a:ext cx="741866" cy="1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Backend</a:t>
            </a:r>
            <a:endParaRPr sz="1400" b="1"/>
          </a:p>
        </p:txBody>
      </p:sp>
      <p:sp>
        <p:nvSpPr>
          <p:cNvPr id="867602103" name="Text 6"/>
          <p:cNvSpPr/>
          <p:nvPr/>
        </p:nvSpPr>
        <p:spPr bwMode="auto">
          <a:xfrm>
            <a:off x="4723356" y="1669519"/>
            <a:ext cx="3929286" cy="1338932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Spring Boot (Java 17)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Core REST API framework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Spring Security 6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JWT stateless auth, BCrypt, @PreAuthorize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Hibernate / Spring Data JPA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ORM layer for database access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JavaMailSender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HTML/CSS responsive MIME email templates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Razorpay Java SDK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Payment creation, verification, refunds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Scheduled Tasks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Cron-based expiry scanning for seat locks</a:t>
            </a:r>
            <a:endParaRPr sz="1100"/>
          </a:p>
        </p:txBody>
      </p:sp>
      <p:sp>
        <p:nvSpPr>
          <p:cNvPr id="818139810" name="Text 7"/>
          <p:cNvSpPr/>
          <p:nvPr/>
        </p:nvSpPr>
        <p:spPr bwMode="auto">
          <a:xfrm>
            <a:off x="4723356" y="2931760"/>
            <a:ext cx="1690498" cy="1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Database &amp; DevOps</a:t>
            </a:r>
            <a:endParaRPr sz="1400" b="1"/>
          </a:p>
        </p:txBody>
      </p:sp>
      <p:sp>
        <p:nvSpPr>
          <p:cNvPr id="338231211" name="Text 8"/>
          <p:cNvSpPr/>
          <p:nvPr/>
        </p:nvSpPr>
        <p:spPr bwMode="auto">
          <a:xfrm>
            <a:off x="4723356" y="3171533"/>
            <a:ext cx="3929286" cy="1027584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2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MySQL 8.x</a:t>
            </a: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Relational schema with FK constraints, indexes, soft-delete</a:t>
            </a:r>
            <a:endParaRPr sz="12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2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Docker &amp; Docker Compose</a:t>
            </a: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Isolated backend, frontend, and DB services</a:t>
            </a:r>
            <a:endParaRPr sz="12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2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Nginx</a:t>
            </a: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Static file server + reverse proxy to Spring Boot API</a:t>
            </a:r>
            <a:endParaRPr sz="1200"/>
          </a:p>
        </p:txBody>
      </p:sp>
      <p:sp>
        <p:nvSpPr>
          <p:cNvPr id="1674441088" name="Text 7"/>
          <p:cNvSpPr/>
          <p:nvPr/>
        </p:nvSpPr>
        <p:spPr bwMode="auto">
          <a:xfrm>
            <a:off x="4747039" y="4242605"/>
            <a:ext cx="504335" cy="19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Cloud</a:t>
            </a:r>
            <a:endParaRPr sz="1400" b="1"/>
          </a:p>
        </p:txBody>
      </p:sp>
      <p:sp>
        <p:nvSpPr>
          <p:cNvPr id="624266625" name="Text 8"/>
          <p:cNvSpPr/>
          <p:nvPr/>
        </p:nvSpPr>
        <p:spPr bwMode="auto">
          <a:xfrm>
            <a:off x="4875757" y="4520993"/>
            <a:ext cx="3929285" cy="1027584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000" b="1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AWS</a:t>
            </a:r>
            <a:r>
              <a:rPr lang="en-US" sz="10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 — EC2 instance are used to deploy the project</a:t>
            </a:r>
            <a:endParaRPr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971583" name="Text 0"/>
          <p:cNvSpPr/>
          <p:nvPr/>
        </p:nvSpPr>
        <p:spPr bwMode="auto">
          <a:xfrm>
            <a:off x="496118" y="212397"/>
            <a:ext cx="1344229" cy="19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Core </a:t>
            </a:r>
            <a:r>
              <a:rPr lang="en-US" sz="16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Modules</a:t>
            </a:r>
            <a:endParaRPr sz="1600" b="1"/>
          </a:p>
        </p:txBody>
      </p:sp>
      <p:pic>
        <p:nvPicPr>
          <p:cNvPr id="109646478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56524" y="809087"/>
            <a:ext cx="7577476" cy="4262330"/>
          </a:xfrm>
          <a:prstGeom prst="rect">
            <a:avLst/>
          </a:prstGeom>
        </p:spPr>
      </p:pic>
      <p:sp>
        <p:nvSpPr>
          <p:cNvPr id="948979226" name="Text 1"/>
          <p:cNvSpPr/>
          <p:nvPr/>
        </p:nvSpPr>
        <p:spPr bwMode="auto">
          <a:xfrm flipH="0" flipV="0">
            <a:off x="547605" y="483836"/>
            <a:ext cx="7588576" cy="95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FastX is organized into four tightly integrated modules, each responsible for a </a:t>
            </a: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critical </a:t>
            </a: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domain of the booking lifecycle. The backend coordinates all module interactions through a unified Spring Boot API layer.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642773" name="Text 0"/>
          <p:cNvSpPr/>
          <p:nvPr/>
        </p:nvSpPr>
        <p:spPr bwMode="auto">
          <a:xfrm>
            <a:off x="431760" y="471676"/>
            <a:ext cx="2354872" cy="38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Module &amp; Pages</a:t>
            </a:r>
            <a:endParaRPr sz="2400" b="1"/>
          </a:p>
        </p:txBody>
      </p:sp>
      <p:sp>
        <p:nvSpPr>
          <p:cNvPr id="197634945" name="Text 1"/>
          <p:cNvSpPr/>
          <p:nvPr/>
        </p:nvSpPr>
        <p:spPr bwMode="auto">
          <a:xfrm flipH="0" flipV="0">
            <a:off x="1049598" y="1052658"/>
            <a:ext cx="6844791" cy="19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FastX provides a tailored experience for each role, with dedicated pages and dashboards designed for clarity and efficiency.</a:t>
            </a:r>
            <a:endParaRPr sz="1400"/>
          </a:p>
        </p:txBody>
      </p:sp>
      <p:pic>
        <p:nvPicPr>
          <p:cNvPr id="518551289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96119" y="1702668"/>
            <a:ext cx="372070" cy="372070"/>
          </a:xfrm>
          <a:prstGeom prst="rect">
            <a:avLst/>
          </a:prstGeom>
        </p:spPr>
      </p:pic>
      <p:sp>
        <p:nvSpPr>
          <p:cNvPr id="881352562" name="Text 2"/>
          <p:cNvSpPr/>
          <p:nvPr/>
        </p:nvSpPr>
        <p:spPr bwMode="auto">
          <a:xfrm>
            <a:off x="496118" y="2229742"/>
            <a:ext cx="1491072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Public &amp; Auth Pages</a:t>
            </a:r>
            <a:endParaRPr sz="1200" b="1"/>
          </a:p>
        </p:txBody>
      </p:sp>
      <p:sp>
        <p:nvSpPr>
          <p:cNvPr id="258012510" name="Text 3"/>
          <p:cNvSpPr/>
          <p:nvPr/>
        </p:nvSpPr>
        <p:spPr bwMode="auto">
          <a:xfrm>
            <a:off x="496119" y="2498006"/>
            <a:ext cx="2613868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Landing Page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Interactive search field with various components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Search Results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Filterable by bus type and departure time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Login / Sign-Up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Local credentials or Google OAuth 2.0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Password Reset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Token-based recovery via email</a:t>
            </a:r>
            <a:endParaRPr lang="en-US" sz="950"/>
          </a:p>
        </p:txBody>
      </p:sp>
      <p:pic>
        <p:nvPicPr>
          <p:cNvPr id="2142196997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3264991" y="1702668"/>
            <a:ext cx="372070" cy="372070"/>
          </a:xfrm>
          <a:prstGeom prst="rect">
            <a:avLst/>
          </a:prstGeom>
        </p:spPr>
      </p:pic>
      <p:sp>
        <p:nvSpPr>
          <p:cNvPr id="1352935996" name="Text 4"/>
          <p:cNvSpPr/>
          <p:nvPr/>
        </p:nvSpPr>
        <p:spPr bwMode="auto">
          <a:xfrm>
            <a:off x="3264990" y="2229742"/>
            <a:ext cx="1609986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Passenger Dashboard</a:t>
            </a:r>
            <a:endParaRPr sz="1200" b="1"/>
          </a:p>
        </p:txBody>
      </p:sp>
      <p:sp>
        <p:nvSpPr>
          <p:cNvPr id="49872470" name="Text 5"/>
          <p:cNvSpPr/>
          <p:nvPr/>
        </p:nvSpPr>
        <p:spPr bwMode="auto">
          <a:xfrm>
            <a:off x="3264991" y="2498006"/>
            <a:ext cx="2613942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Overview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Booking history, upcoming journeys, quick stats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Profile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Update name, phone, address, gender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Ticket Details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PDF download, cancellation requests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Payment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Checkout with countdown timer synced to seat lock</a:t>
            </a:r>
            <a:endParaRPr lang="en-US" sz="950"/>
          </a:p>
        </p:txBody>
      </p:sp>
      <p:pic>
        <p:nvPicPr>
          <p:cNvPr id="227411943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033939" y="1702668"/>
            <a:ext cx="372070" cy="372070"/>
          </a:xfrm>
          <a:prstGeom prst="rect">
            <a:avLst/>
          </a:prstGeom>
        </p:spPr>
      </p:pic>
      <p:sp>
        <p:nvSpPr>
          <p:cNvPr id="1413866150" name="Text 6"/>
          <p:cNvSpPr/>
          <p:nvPr/>
        </p:nvSpPr>
        <p:spPr bwMode="auto">
          <a:xfrm>
            <a:off x="6033938" y="2229742"/>
            <a:ext cx="2236248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Operator &amp; Admin Dashboards</a:t>
            </a:r>
            <a:endParaRPr sz="1200" b="1"/>
          </a:p>
        </p:txBody>
      </p:sp>
      <p:sp>
        <p:nvSpPr>
          <p:cNvPr id="1168720545" name="Text 7"/>
          <p:cNvSpPr/>
          <p:nvPr/>
        </p:nvSpPr>
        <p:spPr bwMode="auto">
          <a:xfrm>
            <a:off x="6033939" y="2498006"/>
            <a:ext cx="2613942" cy="191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Operator Overview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Daily bookings, active buses, revenue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My Buses (CRUD)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Add/edit trips, fares, schedules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Refund Approvals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Approve (triggers Razorpay) or reject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Admin Console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Platform metrics, operator verification, user management, global refund audit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024394" name="Text 0"/>
          <p:cNvSpPr/>
          <p:nvPr/>
        </p:nvSpPr>
        <p:spPr bwMode="auto">
          <a:xfrm>
            <a:off x="303043" y="278601"/>
            <a:ext cx="2677529" cy="393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Use Case Diagram</a:t>
            </a:r>
            <a:endParaRPr sz="2400" b="1"/>
          </a:p>
        </p:txBody>
      </p:sp>
      <p:pic>
        <p:nvPicPr>
          <p:cNvPr id="2474848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9156" y="826728"/>
            <a:ext cx="3432898" cy="4054560"/>
          </a:xfrm>
          <a:prstGeom prst="rect">
            <a:avLst/>
          </a:prstGeom>
        </p:spPr>
      </p:pic>
      <p:pic>
        <p:nvPicPr>
          <p:cNvPr id="420585605" name=""/>
          <p:cNvPicPr>
            <a:picLocks noChangeAspect="1"/>
          </p:cNvPicPr>
          <p:nvPr/>
        </p:nvPicPr>
        <p:blipFill rotWithShape="1">
          <a:blip r:embed="rId4"/>
          <a:srcRect l="1667" t="0" r="0" b="0"/>
          <a:stretch/>
        </p:blipFill>
        <p:spPr bwMode="auto">
          <a:xfrm flipH="0" flipV="0">
            <a:off x="3656858" y="573555"/>
            <a:ext cx="5435431" cy="4495717"/>
          </a:xfrm>
          <a:prstGeom prst="rect">
            <a:avLst/>
          </a:prstGeom>
        </p:spPr>
      </p:pic>
      <p:sp>
        <p:nvSpPr>
          <p:cNvPr id="1443640648" name=""/>
          <p:cNvSpPr txBox="1"/>
          <p:nvPr/>
        </p:nvSpPr>
        <p:spPr bwMode="auto">
          <a:xfrm rot="0" flipH="0" flipV="0">
            <a:off x="3811418" y="295176"/>
            <a:ext cx="2193366" cy="37709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ER Diagram</a:t>
            </a:r>
            <a:endParaRPr sz="2400" b="1"/>
          </a:p>
        </p:txBody>
      </p:sp>
      <p:cxnSp>
        <p:nvCxnSpPr>
          <p:cNvPr id="1355831170" name=""/>
          <p:cNvCxnSpPr/>
          <p:nvPr/>
        </p:nvCxnSpPr>
        <p:spPr bwMode="auto">
          <a:xfrm flipH="0" flipV="0">
            <a:off x="3554956" y="-77229"/>
            <a:ext cx="0" cy="5354594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18356" name="Text 0"/>
          <p:cNvSpPr/>
          <p:nvPr/>
        </p:nvSpPr>
        <p:spPr bwMode="auto">
          <a:xfrm>
            <a:off x="303043" y="278601"/>
            <a:ext cx="2118385" cy="40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Class Diagram</a:t>
            </a:r>
            <a:endParaRPr sz="2400" b="1"/>
          </a:p>
        </p:txBody>
      </p:sp>
      <p:pic>
        <p:nvPicPr>
          <p:cNvPr id="1460855478" name=""/>
          <p:cNvPicPr>
            <a:picLocks noChangeAspect="1"/>
          </p:cNvPicPr>
          <p:nvPr/>
        </p:nvPicPr>
        <p:blipFill rotWithShape="1">
          <a:blip r:embed="rId3"/>
          <a:srcRect l="0" t="0" r="769" b="34401"/>
          <a:stretch/>
        </p:blipFill>
        <p:spPr bwMode="auto">
          <a:xfrm flipH="0" flipV="0">
            <a:off x="176043" y="777129"/>
            <a:ext cx="5873956" cy="4191744"/>
          </a:xfrm>
          <a:prstGeom prst="rect">
            <a:avLst/>
          </a:prstGeom>
        </p:spPr>
      </p:pic>
      <p:pic>
        <p:nvPicPr>
          <p:cNvPr id="2057029799" name=""/>
          <p:cNvPicPr>
            <a:picLocks noChangeAspect="1"/>
          </p:cNvPicPr>
          <p:nvPr/>
        </p:nvPicPr>
        <p:blipFill rotWithShape="1">
          <a:blip r:embed="rId3"/>
          <a:srcRect l="2173" t="72783" r="55629" b="3950"/>
          <a:stretch/>
        </p:blipFill>
        <p:spPr bwMode="auto">
          <a:xfrm flipH="0" flipV="0">
            <a:off x="6161124" y="793749"/>
            <a:ext cx="2827245" cy="1682749"/>
          </a:xfrm>
          <a:prstGeom prst="rect">
            <a:avLst/>
          </a:prstGeom>
        </p:spPr>
      </p:pic>
      <p:pic>
        <p:nvPicPr>
          <p:cNvPr id="335924114" name=""/>
          <p:cNvPicPr>
            <a:picLocks noChangeAspect="1"/>
          </p:cNvPicPr>
          <p:nvPr/>
        </p:nvPicPr>
        <p:blipFill rotWithShape="1">
          <a:blip r:embed="rId3"/>
          <a:srcRect l="43037" t="67592" r="29974" b="0"/>
          <a:stretch/>
        </p:blipFill>
        <p:spPr bwMode="auto">
          <a:xfrm flipH="0" flipV="0">
            <a:off x="6478624" y="2461212"/>
            <a:ext cx="1873249" cy="2428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085603" name="Text 0"/>
          <p:cNvSpPr/>
          <p:nvPr/>
        </p:nvSpPr>
        <p:spPr bwMode="auto">
          <a:xfrm>
            <a:off x="303043" y="278601"/>
            <a:ext cx="3032036" cy="42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Output Screen Shots</a:t>
            </a:r>
            <a:endParaRPr sz="2400" b="1"/>
          </a:p>
        </p:txBody>
      </p:sp>
      <p:pic>
        <p:nvPicPr>
          <p:cNvPr id="16105496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3110" y="779724"/>
            <a:ext cx="7337777" cy="4127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22613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4874" y="571500"/>
            <a:ext cx="7281333" cy="4095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00056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74749" y="627062"/>
            <a:ext cx="6914444" cy="3889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90964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88999" y="490675"/>
            <a:ext cx="7399374" cy="4162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58566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2623" y="380999"/>
            <a:ext cx="7732749" cy="4349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46978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2123" y="349249"/>
            <a:ext cx="7954999" cy="4474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6345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3874" y="338870"/>
            <a:ext cx="7939124" cy="4465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09991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249" y="269874"/>
            <a:ext cx="7891499" cy="443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792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2436" y="285750"/>
            <a:ext cx="7939125" cy="4465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95339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86562" y="317499"/>
            <a:ext cx="7970874" cy="4483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21836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7687" y="460374"/>
            <a:ext cx="7748624" cy="4358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55494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5437" y="174623"/>
            <a:ext cx="8193124" cy="4608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36386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62366" y="587374"/>
            <a:ext cx="3600133" cy="4236137"/>
          </a:xfrm>
          <a:prstGeom prst="rect">
            <a:avLst/>
          </a:prstGeom>
        </p:spPr>
      </p:pic>
      <p:pic>
        <p:nvPicPr>
          <p:cNvPr id="150038194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926366" y="397642"/>
            <a:ext cx="3695383" cy="4348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32283" name=""/>
          <p:cNvSpPr txBox="1"/>
          <p:nvPr/>
        </p:nvSpPr>
        <p:spPr bwMode="auto">
          <a:xfrm rot="0" flipH="0" flipV="0">
            <a:off x="720331" y="1349374"/>
            <a:ext cx="7544944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200" b="1" i="1">
                <a:latin typeface="JetBrainsMono NFP ExtraBold"/>
                <a:ea typeface="JetBrainsMono NFP ExtraBold"/>
                <a:cs typeface="JetBrainsMono NFP ExtraBold"/>
              </a:rPr>
              <a:t>THANK </a:t>
            </a:r>
            <a:endParaRPr sz="7200" b="1" i="1">
              <a:latin typeface="JetBrainsMono NFP ExtraBold"/>
              <a:ea typeface="JetBrainsMono NFP ExtraBold"/>
              <a:cs typeface="JetBrainsMono NFP ExtraBold"/>
            </a:endParaRPr>
          </a:p>
          <a:p>
            <a:pPr algn="ctr">
              <a:defRPr/>
            </a:pPr>
            <a:r>
              <a:rPr sz="7200" b="1" i="1">
                <a:latin typeface="JetBrainsMono NFP ExtraBold"/>
                <a:ea typeface="JetBrainsMono NFP ExtraBold"/>
                <a:cs typeface="JetBrainsMono NFP ExtraBold"/>
              </a:rPr>
              <a:t>YOU!!!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4</cp:revision>
  <dcterms:created xsi:type="dcterms:W3CDTF">2026-07-09T20:41:04Z</dcterms:created>
  <dcterms:modified xsi:type="dcterms:W3CDTF">2026-07-10T10:20:58Z</dcterms:modified>
</cp:coreProperties>
</file>